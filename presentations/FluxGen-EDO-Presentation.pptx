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uxgen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B87333"/>
                </a:solidFill>
              </a:defRPr>
            </a:pPr>
            <a:r>
              <a:t>FORGING TOMORROW'S WELDS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0C0C0"/>
                </a:solidFill>
              </a:defRPr>
            </a:pPr>
            <a:r>
              <a:t>FluxGen Industries Ltd.</a:t>
            </a:r>
          </a:p>
          <a:p>
            <a:pPr algn="ctr">
              <a:defRPr sz="1800">
                <a:solidFill>
                  <a:srgbClr val="C0C0C0"/>
                </a:solidFill>
              </a:defRPr>
            </a:pPr>
            <a:r>
              <a:t>Partnership Proposal to City of Airdrie Economic Development</a:t>
            </a:r>
          </a:p>
          <a:p>
            <a:pPr algn="ctr">
              <a:defRPr sz="1800">
                <a:solidFill>
                  <a:srgbClr val="C0C0C0"/>
                </a:solidFill>
              </a:defRPr>
            </a:pPr>
          </a:p>
          <a:p>
            <a:pPr algn="ctr">
              <a:defRPr sz="1800">
                <a:solidFill>
                  <a:srgbClr val="C0C0C0"/>
                </a:solidFill>
              </a:defRPr>
            </a:pPr>
            <a:r>
              <a:t>Building Canada's First SAW Flux Manufacturing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6400800" cy="1828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0C0C0"/>
                </a:solidFill>
              </a:defRPr>
            </a:pPr>
            <a:r>
              <a:t>Presented to: Chad Sheldon, Economic Development Officer</a:t>
            </a:r>
          </a:p>
          <a:p>
            <a:pPr algn="ctr">
              <a:defRPr sz="1400">
                <a:solidFill>
                  <a:srgbClr val="C0C0C0"/>
                </a:solidFill>
              </a:defRPr>
            </a:pPr>
            <a:r>
              <a:t>City of Airdrie</a:t>
            </a:r>
          </a:p>
          <a:p>
            <a:pPr algn="ctr">
              <a:defRPr sz="1400">
                <a:solidFill>
                  <a:srgbClr val="C0C0C0"/>
                </a:solidFill>
              </a:defRPr>
            </a:pPr>
          </a:p>
          <a:p>
            <a:pPr algn="ctr">
              <a:defRPr sz="1400">
                <a:solidFill>
                  <a:srgbClr val="C0C0C0"/>
                </a:solidFill>
              </a:defRPr>
            </a:pPr>
            <a:r>
              <a:t>Date: December 1,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87333"/>
                </a:solidFill>
              </a:defRPr>
            </a:pPr>
            <a:r>
              <a:t>PRESENTING TEAM: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Pratik Jhaveri  |  Founder &amp; Technical Director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Arpan Patel     |  Chief Operating Officer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Abhishek Patel  |  Chief Commercial Officer</a:t>
            </a:r>
          </a:p>
          <a:p>
            <a:pPr algn="ctr">
              <a:defRPr sz="1100">
                <a:solidFill>
                  <a:srgbClr val="C0C0C0"/>
                </a:solidFill>
              </a:defRPr>
            </a:pPr>
            <a:r>
              <a:t>Bhargav Patel   |  Chief Compliance Officer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0C0C0"/>
                </a:solidFill>
              </a:defRPr>
            </a:pPr>
            <a:r>
              <a:t>FluxGen Industries Ltd. | Airdrie, Alberta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CANADA'S SAW FLUX MARKET: 100% IMPORT DEPENDENT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5486400" cy="13716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B87333"/>
                </a:solidFill>
              </a:defRPr>
            </a:pPr>
            <a:r>
              <a:t>$33 MILLION</a:t>
            </a:r>
          </a:p>
          <a:p>
            <a:pPr algn="ctr">
              <a:defRPr sz="1800">
                <a:solidFill>
                  <a:srgbClr val="C0C0C0"/>
                </a:solidFill>
              </a:defRPr>
            </a:pPr>
            <a:r>
              <a:t>Annual SAW Flux Imports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11,000+ Tonnes Per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 b="1">
                <a:solidFill>
                  <a:srgbClr val="B87333"/>
                </a:solidFill>
              </a:defRPr>
            </a:pPr>
            <a:r>
              <a:t>THE MARKET GAP: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Zero domestic SAW flux manufacturers in Canada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100% reliance on U.S., European, and Asian suppliers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Critical material for pipeline welding, shipbuilding, heavy equipment, and structural steel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Supply chain vulnerability — no Canadian backup source</a:t>
            </a:r>
          </a:p>
          <a:p>
            <a:pPr>
              <a:spcBef>
                <a:spcPts val="400"/>
              </a:spcBef>
              <a:defRPr sz="1400">
                <a:solidFill>
                  <a:srgbClr val="C0C0C0"/>
                </a:solidFill>
              </a:defRPr>
            </a:pPr>
            <a:r>
              <a:t>• Currency exchange risk and longer lead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87333"/>
                </a:solidFill>
              </a:defRPr>
            </a:pPr>
            <a:r>
              <a:t>THE OPPORTUNITY:</a:t>
            </a:r>
          </a:p>
          <a:p>
            <a:pPr>
              <a:spcBef>
                <a:spcPts val="600"/>
              </a:spcBef>
              <a:defRPr sz="1400">
                <a:solidFill>
                  <a:srgbClr val="C0C0C0"/>
                </a:solidFill>
              </a:defRPr>
            </a:pPr>
            <a:r>
              <a:t>Canada has the demand, the raw materials, and the skilled workforce.</a:t>
            </a:r>
          </a:p>
          <a:p>
            <a:pPr>
              <a:defRPr sz="1400" b="1">
                <a:solidFill>
                  <a:srgbClr val="C0C0C0"/>
                </a:solidFill>
              </a:defRPr>
            </a:pPr>
            <a:r>
              <a:t>What's missing? A domestic manufacturer.</a:t>
            </a:r>
          </a:p>
          <a:p>
            <a:pPr>
              <a:spcBef>
                <a:spcPts val="600"/>
              </a:spcBef>
              <a:defRPr sz="1400" b="1">
                <a:solidFill>
                  <a:srgbClr val="B87333"/>
                </a:solidFill>
              </a:defRPr>
            </a:pPr>
            <a:r>
              <a:t>FluxGen is ready to fill that gap — and build it in Airdrie.</a:t>
            </a:r>
          </a:p>
        </p:txBody>
      </p:sp>
      <p:pic>
        <p:nvPicPr>
          <p:cNvPr id="6" name="Picture 5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B87333"/>
                </a:solidFill>
              </a:defRPr>
            </a:pPr>
            <a:r>
              <a:t>FLUXGEN INDUSTRIES LTD.</a:t>
            </a:r>
          </a:p>
          <a:p>
            <a:pPr algn="ctr">
              <a:defRPr sz="1600">
                <a:solidFill>
                  <a:srgbClr val="C0C0C0"/>
                </a:solidFill>
              </a:defRPr>
            </a:pPr>
            <a:r>
              <a:t>Canada's First SAW Flux &amp; Alloy Manufacturer | Airdrie, Alberta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2377440" cy="164592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PROVEN TECHNOLOGY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Production-ready formulations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25+ years family expertise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NOT R&amp;D — proven IP transfer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88720"/>
            <a:ext cx="2377440" cy="164592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MARKET READY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Immediate demand: 11,000 tonnes/year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Zero domestic competition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Pipeline welding = core Alberta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377440" cy="164592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EXPORT POTENTIAL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ArcNova Materials (export subsidiary)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Target: U.S. &amp; India markets</a:t>
            </a:r>
          </a:p>
          <a:p>
            <a:pPr>
              <a:spcBef>
                <a:spcPts val="400"/>
              </a:spcBef>
              <a:defRPr sz="1100">
                <a:solidFill>
                  <a:srgbClr val="C0C0C0"/>
                </a:solidFill>
              </a:defRPr>
            </a:pPr>
            <a:r>
              <a:t>• Bring foreign revenue INTO Alberta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PHASED GROWTH STRATEGY: De-Risked, Milestone-Based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2560320" cy="2011680"/>
          </a:xfrm>
          <a:prstGeom prst="roundRect">
            <a:avLst/>
          </a:prstGeom>
          <a:solidFill>
            <a:srgbClr val="3E5368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YEAR 1-2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C0C0C0"/>
                </a:solidFill>
              </a:defRPr>
            </a:pPr>
            <a:r>
              <a:t>Pilot Production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800 tonnes/year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$2.5M revenue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10 jobs created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Canadian market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657600"/>
            <a:ext cx="2560320" cy="2011680"/>
          </a:xfrm>
          <a:prstGeom prst="roundRect">
            <a:avLst/>
          </a:prstGeom>
          <a:solidFill>
            <a:srgbClr val="3E5368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YEAR 3-4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C0C0C0"/>
                </a:solidFill>
              </a:defRPr>
            </a:pPr>
            <a:r>
              <a:t>Scale Production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3,000 tonnes/year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$12M revenue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22 jobs created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Expand market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657600"/>
            <a:ext cx="2560320" cy="2011680"/>
          </a:xfrm>
          <a:prstGeom prst="roundRect">
            <a:avLst/>
          </a:prstGeom>
          <a:solidFill>
            <a:srgbClr val="3E5368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YEAR 5-7</a:t>
            </a:r>
          </a:p>
          <a:p>
            <a:pPr algn="ctr">
              <a:spcBef>
                <a:spcPts val="200"/>
              </a:spcBef>
              <a:defRPr sz="1200" b="1">
                <a:solidFill>
                  <a:srgbClr val="C0C0C0"/>
                </a:solidFill>
              </a:defRPr>
            </a:pPr>
            <a:r>
              <a:t>Full Capacity + Exports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6,000 tonnes/year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$33M revenue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40 jobs created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Export + wire manufacturing</a:t>
            </a:r>
          </a:p>
        </p:txBody>
      </p:sp>
      <p:pic>
        <p:nvPicPr>
          <p:cNvPr id="10" name="Picture 9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87333"/>
                </a:solidFill>
              </a:defRPr>
            </a:pPr>
            <a:r>
              <a:t>PARTNERSHIP REQUEST: WHAT WE NEED FROM THE CITY OF AIRDRIE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INDUSTRIAL LAND: 10-15 ACRES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Option A: Free land grant (community investment model)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Option B: Heavily discounted long-term lease ($1/year for 10 years)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LETTER OF MUNICIPAL SUPPORT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For federal grant applications: PrairiesCan, Alberta Innovates, CanExport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UTILITY CONNECTION ASSISTANCE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Guidance on power, water, natural gas routing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Introductions to utility providers (ENMAX, EPCOR, ATCO)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✓  PERMITTING COOPERATION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Collaborative approach to building, environmental, and operational permits</a:t>
            </a:r>
          </a:p>
          <a:p>
            <a:pPr>
              <a:spcBef>
                <a:spcPts val="200"/>
              </a:spcBef>
              <a:defRPr sz="1200">
                <a:solidFill>
                  <a:srgbClr val="C0C0C0"/>
                </a:solidFill>
              </a:defRPr>
            </a:pPr>
            <a:r>
              <a:t>  Streamlined approval process where 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7315200" cy="1828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7333"/>
                </a:solidFill>
              </a:defRPr>
            </a:pPr>
            <a:r>
              <a:t>WHAT WE ARE NOT REQUESTING: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cash grants or direct capital funding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loan guarantees or financial backstops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property tax abatements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✗  No ongoing operational subsidies</a:t>
            </a:r>
          </a:p>
          <a:p>
            <a:br/>
            <a:pPr>
              <a:spcBef>
                <a:spcPts val="800"/>
              </a:spcBef>
              <a:defRPr sz="1100" b="1">
                <a:solidFill>
                  <a:srgbClr val="B87333"/>
                </a:solidFill>
              </a:defRPr>
            </a:pPr>
            <a:r>
              <a:t>We will pay full property tax from Day 1. We will secure capital through federal/provincial grants and private investment.</a:t>
            </a:r>
          </a:p>
        </p:txBody>
      </p:sp>
      <p:pic>
        <p:nvPicPr>
          <p:cNvPr id="9" name="Picture 8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RETURN ON INVESTMENT FOR AIRDRIE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2560320" cy="45720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ECONOMIC IMPACT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40 direct jobs by Year 7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100+ indirect jobs (logistics, services, contractors)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$500K-$1M annual property tax revenue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$33M annual revenue at full capacity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Attracts related industries (welding, fabrication)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097280"/>
            <a:ext cx="2560320" cy="45720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STRATEGIC VALUE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First-mover industrial leadership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Tax base diversification beyond residential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Advanced manufacturing sector anchor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Export revenue generation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Technology transfer and IP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2560320" cy="45720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COMMUNITY BENEFITS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Skilled trades employment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Industrial land utilization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Supply chain development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Business services demand</a:t>
            </a:r>
          </a:p>
          <a:p>
            <a:pPr>
              <a:spcBef>
                <a:spcPts val="600"/>
              </a:spcBef>
              <a:defRPr sz="1100">
                <a:solidFill>
                  <a:srgbClr val="C0C0C0"/>
                </a:solidFill>
              </a:defRPr>
            </a:pPr>
            <a:r>
              <a:t>• National visibility for Airdrie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AIRDRIE'S INVESTMENT:</a:t>
            </a:r>
          </a:p>
          <a:p>
            <a:pPr algn="ctr">
              <a:spcBef>
                <a:spcPts val="400"/>
              </a:spcBef>
              <a:defRPr sz="1300">
                <a:solidFill>
                  <a:srgbClr val="C0C0C0"/>
                </a:solidFill>
              </a:defRPr>
            </a:pPr>
            <a:r>
              <a:t>Land commitment (retained ownership in lease model) + Municipal support letters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B87333"/>
                </a:solidFill>
              </a:defRPr>
            </a:pPr>
            <a:r>
              <a:t>AIRDRIE'S RETURN: Generational industrial employer + diversified tax base + export economy participation</a:t>
            </a:r>
          </a:p>
        </p:txBody>
      </p:sp>
      <p:pic>
        <p:nvPicPr>
          <p:cNvPr id="7" name="Picture 6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OUR TEAM: PROVEN EXPERTISE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840480" cy="237744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Pratik Jhaveri</a:t>
            </a:r>
          </a:p>
          <a:p>
            <a:pPr algn="ctr">
              <a:spcBef>
                <a:spcPts val="200"/>
              </a:spcBef>
              <a:defRPr sz="1300">
                <a:solidFill>
                  <a:srgbClr val="C0C0C0"/>
                </a:solidFill>
              </a:defRPr>
            </a:pPr>
            <a:r>
              <a:t>Founder &amp; Technical Director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Former owner of Jhaveri Weld Flux Ltd. (publicly listed Indian flux manufacturer)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25+ years flux manufacturing expertise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Complete formulation and process knowledge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59" y="1097280"/>
            <a:ext cx="3840480" cy="237744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Arpan Patel</a:t>
            </a:r>
          </a:p>
          <a:p>
            <a:pPr algn="ctr">
              <a:spcBef>
                <a:spcPts val="200"/>
              </a:spcBef>
              <a:defRPr sz="1300">
                <a:solidFill>
                  <a:srgbClr val="C0C0C0"/>
                </a:solidFill>
              </a:defRPr>
            </a:pPr>
            <a:r>
              <a:t>Chief Operating Officer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Logistics and supply chain background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Loblaws Canada operations experience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Manufacturing process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840480" cy="237744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Abhishek Patel</a:t>
            </a:r>
          </a:p>
          <a:p>
            <a:pPr algn="ctr">
              <a:spcBef>
                <a:spcPts val="200"/>
              </a:spcBef>
              <a:defRPr sz="1300">
                <a:solidFill>
                  <a:srgbClr val="C0C0C0"/>
                </a:solidFill>
              </a:defRPr>
            </a:pPr>
            <a:r>
              <a:t>Chief Commercial Officer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Sales and marketing expertise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B2B industrial sales background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Customer relationship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59" y="3749039"/>
            <a:ext cx="3840480" cy="237744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Bhargav Patel</a:t>
            </a:r>
          </a:p>
          <a:p>
            <a:pPr algn="ctr">
              <a:spcBef>
                <a:spcPts val="200"/>
              </a:spcBef>
              <a:defRPr sz="1300">
                <a:solidFill>
                  <a:srgbClr val="C0C0C0"/>
                </a:solidFill>
              </a:defRPr>
            </a:pPr>
            <a:r>
              <a:t>Chief Compliance Officer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IT and systems background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Detail-oriented compliance focus</a:t>
            </a:r>
          </a:p>
          <a:p>
            <a:pPr>
              <a:spcBef>
                <a:spcPts val="400"/>
              </a:spcBef>
              <a:defRPr sz="1000">
                <a:solidFill>
                  <a:srgbClr val="C0C0C0"/>
                </a:solidFill>
              </a:defRPr>
            </a:pPr>
            <a:r>
              <a:t>• Regulatory and quality systems</a:t>
            </a:r>
          </a:p>
        </p:txBody>
      </p:sp>
      <p:pic>
        <p:nvPicPr>
          <p:cNvPr id="7" name="Picture 6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TIMELINE &amp;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Q1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09728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Land commitment + Federal grant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Q2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9164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Equipment procurement + Site development begins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Q3-Q4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Building construction + Equipment installation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Q1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88036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AWS A5.17 certification + Staff hiring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Q2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7472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Production launch (800 tonnes Year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2028-2029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06908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Scale to 3,000 tonnes/year + Market 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2030-2031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66344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Full capacity 6,000 tonnes + Export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1645920" cy="45720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2032+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57800"/>
            <a:ext cx="5852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>
                <a:solidFill>
                  <a:srgbClr val="C0C0C0"/>
                </a:solidFill>
              </a:defRPr>
            </a:pPr>
            <a:r>
              <a:t>Forward integration: Flux-cored wire manufacturing</a:t>
            </a:r>
          </a:p>
        </p:txBody>
      </p:sp>
      <p:pic>
        <p:nvPicPr>
          <p:cNvPr id="19" name="Picture 18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WHY AIRDRIE?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STRATEGIC LOCATION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Calgary proximity — access to skilled workforce and suppliers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Transportation infrastructure — Highway 2, CP Rail access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Natural gas availability for kilns and dryers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ECONOMIC DEVELOPMENT ALIGNMENT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Airdrie 2024 Economic Strategy targets advanced manufacturing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Tax base diversification beyond residential growth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Proven track record of supporting industrial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INDUSTRIAL LAND AVAILABILITY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East Lake Industrial area has suitable parcels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Zoning already in place for manufacturing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Room for phased expansion through 2031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87333"/>
                </a:solidFill>
              </a:defRPr>
            </a:pPr>
            <a:r>
              <a:t>BUSINESS-FRIENDLY ENVIRONMENT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Responsive EDO team (Chad's proactive approach)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Municipal willingness to partner with growth companies</a:t>
            </a:r>
          </a:p>
          <a:p>
            <a:pPr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• Alberta's competitive business tax environment</a:t>
            </a:r>
          </a:p>
        </p:txBody>
      </p:sp>
      <p:pic>
        <p:nvPicPr>
          <p:cNvPr id="7" name="Picture 6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87333"/>
                </a:solidFill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371600" cy="36576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Initial conversation and partnership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371600" cy="36576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0020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City identifies potential industrial parcels (10-15 acres)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371600" cy="36576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FluxGen conducts site feasibility assessments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39"/>
            <a:ext cx="1371600" cy="36576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WEEK 3-4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39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Draft preliminary MOU (land terms, timeline, commitments)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59"/>
            <a:ext cx="1371600" cy="36576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JANUARY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108959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City provides municipal support letter for federal grants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79"/>
            <a:ext cx="1371600" cy="36576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JANUARY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611879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FluxGen submits PrairiesCan and Alberta Innovates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799"/>
            <a:ext cx="1371600" cy="36576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Q2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114799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Federal grant decisions + Equipment procurement begins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19"/>
            <a:ext cx="1371600" cy="365760"/>
          </a:xfrm>
          <a:prstGeom prst="round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Q3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17719"/>
            <a:ext cx="6126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C0C0C0"/>
                </a:solidFill>
              </a:defRPr>
            </a:pPr>
            <a:r>
              <a:t>Site development and building construction kickoff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87333"/>
                </a:solidFill>
              </a:defRPr>
            </a:pPr>
            <a:r>
              <a:t>OUR ASK TODAY:</a:t>
            </a:r>
          </a:p>
          <a:p>
            <a:pPr algn="ctr">
              <a:spcBef>
                <a:spcPts val="600"/>
              </a:spcBef>
              <a:defRPr sz="1400">
                <a:solidFill>
                  <a:srgbClr val="C0C0C0"/>
                </a:solidFill>
              </a:defRPr>
            </a:pPr>
            <a:r>
              <a:t>Commitment to explore land partnership + Municipal support for federal grant applications</a:t>
            </a:r>
          </a:p>
        </p:txBody>
      </p:sp>
      <p:pic>
        <p:nvPicPr>
          <p:cNvPr id="20" name="Picture 19" descr="fluxgen-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6400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uxgen-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87333"/>
                </a:solidFill>
              </a:defRPr>
            </a:pPr>
            <a:r>
              <a:t>FORGING TOMORROW'S WELDS</a:t>
            </a:r>
          </a:p>
          <a:p>
            <a:pPr algn="ctr">
              <a:spcBef>
                <a:spcPts val="1200"/>
              </a:spcBef>
              <a:defRPr sz="2000">
                <a:solidFill>
                  <a:srgbClr val="C0C0C0"/>
                </a:solidFill>
              </a:defRPr>
            </a:pPr>
            <a:r>
              <a:t>Let's Build Canada's First SAW Flux Manufacturing Capability</a:t>
            </a:r>
          </a:p>
          <a:p>
            <a:pPr algn="ctr">
              <a:spcBef>
                <a:spcPts val="800"/>
              </a:spcBef>
              <a:defRPr sz="1800">
                <a:solidFill>
                  <a:srgbClr val="C0C0C0"/>
                </a:solidFill>
              </a:defRPr>
            </a:pPr>
            <a:r>
              <a:t>Together in Airdrie, Alberta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87333"/>
                </a:solidFill>
              </a:defRPr>
            </a:pPr>
            <a:r>
              <a:t>CONTACT:</a:t>
            </a:r>
          </a:p>
          <a:p>
            <a:pPr algn="ctr"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Pratik Jhaveri  |  Founder &amp; Technical Director</a:t>
            </a:r>
          </a:p>
          <a:p>
            <a:pPr algn="ctr"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pratik@fluxgen.ca  |  (403) XXX-XXXX</a:t>
            </a:r>
          </a:p>
          <a:p>
            <a:pPr algn="ctr"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</a:p>
          <a:p>
            <a:pPr algn="ctr"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FluxGen Industries Ltd.</a:t>
            </a:r>
          </a:p>
          <a:p>
            <a:pPr algn="ctr">
              <a:spcBef>
                <a:spcPts val="300"/>
              </a:spcBef>
              <a:defRPr sz="1200">
                <a:solidFill>
                  <a:srgbClr val="C0C0C0"/>
                </a:solidFill>
              </a:defRPr>
            </a:pPr>
            <a:r>
              <a:t>Airdrie, Alberta, Canada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7333"/>
                </a:solidFill>
              </a:defRPr>
            </a:pPr>
            <a:r>
              <a:t>Thank you for your time and consideration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