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uxgen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B87333"/>
                </a:solidFill>
              </a:defRPr>
            </a:pPr>
            <a:r>
              <a:t>FORGING TOMORROW'S WELDS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0C0C0"/>
                </a:solidFill>
              </a:defRPr>
            </a:pPr>
            <a:r>
              <a:t>FluxGen Industries Ltd.</a:t>
            </a:r>
          </a:p>
          <a:p>
            <a:pPr algn="ctr">
              <a:defRPr sz="1800">
                <a:solidFill>
                  <a:srgbClr val="C0C0C0"/>
                </a:solidFill>
              </a:defRPr>
            </a:pPr>
            <a:r>
              <a:t>Partnership Proposal to City of Airdrie Economic Development</a:t>
            </a:r>
          </a:p>
          <a:p>
            <a:pPr algn="ctr">
              <a:defRPr sz="1800">
                <a:solidFill>
                  <a:srgbClr val="C0C0C0"/>
                </a:solidFill>
              </a:defRPr>
            </a:pPr>
          </a:p>
          <a:p>
            <a:pPr algn="ctr">
              <a:defRPr sz="1800">
                <a:solidFill>
                  <a:srgbClr val="C0C0C0"/>
                </a:solidFill>
              </a:defRPr>
            </a:pPr>
            <a:r>
              <a:t>Building Canada's First SAW Flux Manufacturing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6400800" cy="1828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0C0C0"/>
                </a:solidFill>
              </a:defRPr>
            </a:pPr>
            <a:r>
              <a:t>Presented to: Chad Sheldon, Economic Development Officer</a:t>
            </a:r>
          </a:p>
          <a:p>
            <a:pPr algn="ctr">
              <a:defRPr sz="1400">
                <a:solidFill>
                  <a:srgbClr val="C0C0C0"/>
                </a:solidFill>
              </a:defRPr>
            </a:pPr>
            <a:r>
              <a:t>City of Airdrie</a:t>
            </a:r>
          </a:p>
          <a:p>
            <a:pPr algn="ctr">
              <a:defRPr sz="1400">
                <a:solidFill>
                  <a:srgbClr val="C0C0C0"/>
                </a:solidFill>
              </a:defRPr>
            </a:pPr>
          </a:p>
          <a:p>
            <a:pPr algn="ctr">
              <a:defRPr sz="1400">
                <a:solidFill>
                  <a:srgbClr val="C0C0C0"/>
                </a:solidFill>
              </a:defRPr>
            </a:pPr>
            <a:r>
              <a:t>Date: December 1,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87333"/>
                </a:solidFill>
              </a:defRPr>
            </a:pPr>
            <a:r>
              <a:t>PRESENTING TEAM: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Pratik Jhaveri  |  Founder &amp; Technical Director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Arpan Patel     |  Chief Operating Officer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Abhishek Patel  |  Chief Commercial Officer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Bhargav Patel   |  Chief Compliance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0C0C0"/>
                </a:solidFill>
              </a:defRPr>
            </a:pPr>
            <a:r>
              <a:t>FluxGen Industries Ltd. | Airdrie, Alberta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CANADA'S SAW FLUX MARKET: 100% IMPORT DEPENDENT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5486400" cy="13716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B87333"/>
                </a:solidFill>
              </a:defRPr>
            </a:pPr>
            <a:r>
              <a:t>$33 MILLION</a:t>
            </a:r>
          </a:p>
          <a:p>
            <a:pPr algn="ctr">
              <a:defRPr sz="1800">
                <a:solidFill>
                  <a:srgbClr val="C0C0C0"/>
                </a:solidFill>
              </a:defRPr>
            </a:pPr>
            <a:r>
              <a:t>Annual SAW Flux Imports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11,000+ Tonnes Per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 b="1">
                <a:solidFill>
                  <a:srgbClr val="B87333"/>
                </a:solidFill>
              </a:defRPr>
            </a:pPr>
            <a:r>
              <a:t>THE MARKET GAP: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Zero domestic SAW flux manufacturers in Canada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100% reliance on U.S., European, and Asian suppliers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Critical material for pipeline welding, shipbuilding, heavy equipment, and structural steel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Supply chain vulnerability — no Canadian backup source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Currency exchange risk and longer lead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87333"/>
                </a:solidFill>
              </a:defRPr>
            </a:pPr>
            <a:r>
              <a:t>THE OPPORTUNITY:</a:t>
            </a:r>
          </a:p>
          <a:p>
            <a:pPr>
              <a:spcBef>
                <a:spcPts val="600"/>
              </a:spcBef>
              <a:defRPr sz="1400">
                <a:solidFill>
                  <a:srgbClr val="C0C0C0"/>
                </a:solidFill>
              </a:defRPr>
            </a:pPr>
            <a:r>
              <a:t>Canada has the demand, the raw materials, and the skilled workforce.</a:t>
            </a:r>
          </a:p>
          <a:p>
            <a:pPr>
              <a:defRPr sz="1400" b="1">
                <a:solidFill>
                  <a:srgbClr val="C0C0C0"/>
                </a:solidFill>
              </a:defRPr>
            </a:pPr>
            <a:r>
              <a:t>What's missing? A domestic manufacturer.</a:t>
            </a:r>
          </a:p>
          <a:p>
            <a:pPr>
              <a:spcBef>
                <a:spcPts val="600"/>
              </a:spcBef>
              <a:defRPr sz="1400" b="1">
                <a:solidFill>
                  <a:srgbClr val="B87333"/>
                </a:solidFill>
              </a:defRPr>
            </a:pPr>
            <a:r>
              <a:t>FluxGen is ready to fill that gap — and build it in Airdrie.</a:t>
            </a:r>
          </a:p>
        </p:txBody>
      </p:sp>
      <p:pic>
        <p:nvPicPr>
          <p:cNvPr id="6" name="Picture 5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87333"/>
                </a:solidFill>
              </a:defRPr>
            </a:pPr>
            <a:r>
              <a:t>FLUXGEN INDUSTRIES LTD.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Canada's First SAW Flux &amp; Alloy Manufacturer | Airdrie, Alberta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377440" cy="164592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PROVEN TECHNOLOGY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Production-ready formulations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25+ years family expertise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NOT R&amp;D — proven IP transfer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377440" cy="164592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MARKET READY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Immediate demand: 11,000 tonnes/year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Zero domestic competition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Pipeline welding = core Alberta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377440" cy="164592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EXPORT POTENTIAL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ArcNova Materials (export subsidiary)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Target: U.S. &amp; India markets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Bring foreign revenue INTO Alberta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PHASED GROWTH STRATEGY: De-Risked, Milestone-Based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2560320" cy="2011680"/>
          </a:xfrm>
          <a:prstGeom prst="roundRect">
            <a:avLst/>
          </a:prstGeom>
          <a:solidFill>
            <a:srgbClr val="3E536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YEAR 1-2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C0C0C0"/>
                </a:solidFill>
              </a:defRPr>
            </a:pPr>
            <a:r>
              <a:t>Pilot Production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800 tonnes/year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$2.5M revenue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10 jobs created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Canadian market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657600"/>
            <a:ext cx="2560320" cy="2011680"/>
          </a:xfrm>
          <a:prstGeom prst="roundRect">
            <a:avLst/>
          </a:prstGeom>
          <a:solidFill>
            <a:srgbClr val="3E536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YEAR 3-4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C0C0C0"/>
                </a:solidFill>
              </a:defRPr>
            </a:pPr>
            <a:r>
              <a:t>Scale Production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3,000 tonnes/year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$12M revenue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22 jobs created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Expand market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2560320" cy="2011680"/>
          </a:xfrm>
          <a:prstGeom prst="roundRect">
            <a:avLst/>
          </a:prstGeom>
          <a:solidFill>
            <a:srgbClr val="3E536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YEAR 5-7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C0C0C0"/>
                </a:solidFill>
              </a:defRPr>
            </a:pPr>
            <a:r>
              <a:t>Full Capacity + Exports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6,000 tonnes/year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$33M revenue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40 jobs created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Export + wire manufacturing</a:t>
            </a:r>
          </a:p>
        </p:txBody>
      </p:sp>
      <p:pic>
        <p:nvPicPr>
          <p:cNvPr id="10" name="Picture 9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87333"/>
                </a:solidFill>
              </a:defRPr>
            </a:pPr>
            <a:r>
              <a:t>PARTNERSHIP REQUEST: WHAT WE NEED FROM THE CITY OF AIRDRIE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INDUSTRIAL LAND: 10-15 ACRES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Option A: Free land grant (community investment model)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Option B: Heavily discounted long-term lease ($1/year for 10 years)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LETTER OF MUNICIPAL SUPPORT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For federal grant applications: PrairiesCan, Alberta Innovates, CanExport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UTILITY CONNECTION ASSISTANCE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Guidance on power, water, natural gas routing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Introductions to utility providers (ENMAX, EPCOR, ATCO)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PERMITTING COOPERATION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Collaborative approach to building, environmental, and operational permits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Streamlined approval process where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7315200" cy="1828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WHAT WE ARE NOT REQUESTING: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cash grants or direct capital funding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loan guarantees or financial backstops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property tax abatements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ongoing operational subsidies</a:t>
            </a:r>
          </a:p>
          <a:p>
            <a:br/>
            <a:pPr>
              <a:spcBef>
                <a:spcPts val="800"/>
              </a:spcBef>
              <a:defRPr sz="1100" b="1">
                <a:solidFill>
                  <a:srgbClr val="B87333"/>
                </a:solidFill>
              </a:defRPr>
            </a:pPr>
            <a:r>
              <a:t>We will pay full property tax from Day 1. We will secure capital through federal/provincial grants and private investment.</a:t>
            </a:r>
          </a:p>
        </p:txBody>
      </p:sp>
      <p:pic>
        <p:nvPicPr>
          <p:cNvPr id="9" name="Picture 8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87333"/>
                </a:solidFill>
              </a:defRPr>
            </a:pPr>
            <a:r>
              <a:t>7-YEAR COMMUNITY IMPACT</a:t>
            </a:r>
          </a:p>
          <a:p>
            <a:pPr algn="ctr">
              <a:defRPr sz="2000">
                <a:solidFill>
                  <a:srgbClr val="C0C0C0"/>
                </a:solidFill>
              </a:defRPr>
            </a:pPr>
            <a:r>
              <a:t>What Airdrie Receives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Direct Jobs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18872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C0C0C0"/>
                </a:solidFill>
              </a:defRPr>
            </a:pPr>
            <a:r>
              <a:t>10 (Year 1) → 40 (Year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Annual Payroll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C0C0C0"/>
                </a:solidFill>
              </a:defRPr>
            </a:pPr>
            <a:r>
              <a:t>$600K (Year 1) → $2.8M (Year 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Production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C0C0C0"/>
                </a:solidFill>
              </a:defRPr>
            </a:pPr>
            <a:r>
              <a:t>$2.5M (Year 1) → $33M (Year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Property Tax (7-year)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C0C0C0"/>
                </a:solidFill>
              </a:defRPr>
            </a:pPr>
            <a:r>
              <a:t>$385,000 cumulative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Export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4904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C0C0C0"/>
                </a:solidFill>
              </a:defRPr>
            </a:pPr>
            <a:r>
              <a:t>$2M (Year 3) → $8M (Year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Economic Impact (7-year)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8912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C0C0C0"/>
                </a:solidFill>
              </a:defRPr>
            </a:pPr>
            <a:r>
              <a:t>$312 MILLION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87333"/>
                </a:solidFill>
              </a:defRPr>
            </a:pPr>
            <a:r>
              <a:t>THE VALUE EXCHANGE:</a:t>
            </a:r>
          </a:p>
          <a:p>
            <a:pPr algn="ctr">
              <a:spcBef>
                <a:spcPts val="600"/>
              </a:spcBef>
              <a:defRPr sz="1400">
                <a:solidFill>
                  <a:srgbClr val="C0C0C0"/>
                </a:solidFill>
              </a:defRPr>
            </a:pPr>
            <a:r>
              <a:t>Airdrie invests: 10-15 acres of land (currently generating $0)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B87333"/>
                </a:solidFill>
              </a:defRPr>
            </a:pPr>
            <a:r>
              <a:t>Airdrie receives: $312M economic impact + 40 skilled jobs + $385K property tax + national prestige</a:t>
            </a:r>
          </a:p>
        </p:txBody>
      </p:sp>
      <p:pic>
        <p:nvPicPr>
          <p:cNvPr id="16" name="Picture 15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B87333"/>
                </a:solidFill>
              </a:defRPr>
            </a:pPr>
            <a:r>
              <a:t>ALIGNMENT WITH AIRDRIE'S ECONOMIC STRATEGY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2018-2028 Strategy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41148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87333"/>
                </a:solidFill>
              </a:defRPr>
            </a:pPr>
            <a:r>
              <a:t>THE PLACE TO BE</a:t>
            </a:r>
          </a:p>
          <a:p>
            <a:pPr algn="ctr">
              <a:spcBef>
                <a:spcPts val="200"/>
              </a:spcBef>
              <a:defRPr sz="1100">
                <a:solidFill>
                  <a:srgbClr val="C0C0C0"/>
                </a:solidFill>
              </a:defRPr>
            </a:pPr>
            <a:r>
              <a:t>Drawing Best Talent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40 skilled manufacturing jobs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$55K-$75K average wages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Metallurgists, engineers, technicians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Professionals with families buying homes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Above service sector compensation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560320" cy="41148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87333"/>
                </a:solidFill>
              </a:defRPr>
            </a:pPr>
            <a:r>
              <a:t>RIGHT FOR BUSINESS</a:t>
            </a:r>
          </a:p>
          <a:p>
            <a:pPr algn="ctr">
              <a:spcBef>
                <a:spcPts val="200"/>
              </a:spcBef>
              <a:defRPr sz="1100">
                <a:solidFill>
                  <a:srgbClr val="C0C0C0"/>
                </a:solidFill>
              </a:defRPr>
            </a:pPr>
            <a:r>
              <a:t>Growing Tax Base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$9.17M Phase 1 capital investment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10-15 acre facility development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Shift from residential to industrial tax base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Commercial property tax revenue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Attract related industries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2560320" cy="41148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87333"/>
                </a:solidFill>
              </a:defRPr>
            </a:pPr>
            <a:r>
              <a:t>A CONNECTED COMMUNITY</a:t>
            </a:r>
          </a:p>
          <a:p>
            <a:pPr algn="ctr">
              <a:spcBef>
                <a:spcPts val="200"/>
              </a:spcBef>
              <a:defRPr sz="1100">
                <a:solidFill>
                  <a:srgbClr val="C0C0C0"/>
                </a:solidFill>
              </a:defRPr>
            </a:pPr>
            <a:r>
              <a:t>Capitalizing on Location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15 minutes to Calgary Airport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Perfect for export logistics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ArcNova Materials brings foreign revenue IN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Not sending Canadian dollars out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Economic diversification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0C0C0"/>
                </a:solidFill>
              </a:defRPr>
            </a:pPr>
            <a:r>
              <a:t>YOUR STRATEGY SAYS: 'Shift the tax base by attracting new industries.'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B87333"/>
                </a:solidFill>
              </a:defRPr>
            </a:pPr>
            <a:r>
              <a:t>FluxGen delivers EXACTLY that. We're not asking you to change direction — we're accelerating what you're already doing.</a:t>
            </a:r>
          </a:p>
        </p:txBody>
      </p:sp>
      <p:pic>
        <p:nvPicPr>
          <p:cNvPr id="7" name="Picture 6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87333"/>
                </a:solidFill>
              </a:defRPr>
            </a:pPr>
            <a:r>
              <a:t>WHY FLUXGEN WILL SUCCEED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840480" cy="2286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1. PROVEN TECHNOLOGY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Production-ready formulations from publicly traded flux manufacturer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25 years commercial-scale IP from Jhaveri Weld Flux Ltd.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NOT in R&amp;D mode — proven, commercial-scale manufacturing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59" y="1097280"/>
            <a:ext cx="3840480" cy="2286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2. GUARANTEED DEMAND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100% import dependency = guaranteed customer base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11,000 tonnes/year already purchased by Canadian companies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Pipeline welding (Alberta's specialty) is core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840480" cy="2286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3. EXPERIENCED TEAM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Pratik: 25 years flux manufacturing expertise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Arpan: Operations/logistics (Loblaws Canada)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Abhishek: Sales &amp; marketing specialist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Bhargav: Compliance &amp; quality systems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Equal 25% equity partnership = aligned incentives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3657600"/>
            <a:ext cx="3840480" cy="2286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4. PHASED, LOW-RISK GROWTH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Year 1-2: Pilot production (800 tonnes) validates market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Year 3-4: Scale to 3,000 tonnes as demand validates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Year 5-7: Full capacity + export operations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Capital raised in stages, not all at once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Milestone-based expansion de-risks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Most startups fail because they're trying to invent something OR find a market. We have neither problem.</a:t>
            </a:r>
          </a:p>
        </p:txBody>
      </p:sp>
      <p:pic>
        <p:nvPicPr>
          <p:cNvPr id="8" name="Picture 7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B87333"/>
                </a:solidFill>
              </a:defRPr>
            </a:pPr>
            <a:r>
              <a:t>🇨🇦 CANADA'S FIRST 🇨🇦</a:t>
            </a:r>
          </a:p>
          <a:p>
            <a:pPr algn="ctr">
              <a:spcBef>
                <a:spcPts val="400"/>
              </a:spcBef>
              <a:defRPr sz="1800">
                <a:solidFill>
                  <a:srgbClr val="C0C0C0"/>
                </a:solidFill>
              </a:defRPr>
            </a:pPr>
            <a:r>
              <a:t>SAW Flux Manufacturer | Airdrie, Alberta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📰 MEDIA COVERAGE &amp; BRAND VISIBILITY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Every trade publication mentions 'Airdrie, Alberta' as headquarters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IPO coverage (Year 7) = TSX listing with 'Airdrie HQ' in prospectus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🏆 INDUSTRY RECOGNITION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CWB Association and AWS conference presentations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'How Airdrie became Canada's flux manufacturing hub'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Economic development case study for other municipalities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🌍 CLUSTER EFFECT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Flux-cored wire manufacturers want to be near flux supplier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Welding electrode suppliers seek co-location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Creates 'advanced manufacturing cluster' in Airdrie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💼 FEDERAL/PROVINCIAL ATTENTION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Ministerial visits and funding announcements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Priority for pilot programs and grant initiatives</a:t>
            </a:r>
          </a:p>
          <a:p>
            <a:pPr>
              <a:spcBef>
                <a:spcPts val="300"/>
              </a:spcBef>
              <a:defRPr sz="1100">
                <a:solidFill>
                  <a:srgbClr val="C0C0C0"/>
                </a:solidFill>
              </a:defRPr>
            </a:pPr>
            <a:r>
              <a:t>• Media events with elected officials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AIRDRIE BECOMES SYNONYMOUS WITH ADVANCED MANUFACTURING IN CANADA</a:t>
            </a:r>
          </a:p>
          <a:p>
            <a:pPr algn="ctr"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That's permanent brand equity you can't buy with advertising.</a:t>
            </a:r>
          </a:p>
        </p:txBody>
      </p:sp>
      <p:pic>
        <p:nvPicPr>
          <p:cNvPr id="8" name="Picture 7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87333"/>
                </a:solidFill>
              </a:defRPr>
            </a:pPr>
            <a:r>
              <a:t>PROJECT TIMELINE: LAND COMMITMENT TO 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DEC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09728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EDO Meeting + Partnership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64207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Q1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64207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Land commitment + Federal grant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31136"/>
            <a:ext cx="164592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Q2-Q3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31136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Land finalized + Site preparation begins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98064"/>
            <a:ext cx="164592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Q4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98064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Facility design + Building permits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64992"/>
            <a:ext cx="164592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Q1-Q2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64992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Construction begins + Equipment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64592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Q3 2026-Q2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3192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Equipment installation + AWS certification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98848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Q2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98848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✓ PRODUCTION START (800 tonnes Year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65776"/>
            <a:ext cx="164592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2028-2031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065776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Scale to 6,000 tonnes + Export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CRITICAL PATH:</a:t>
            </a:r>
          </a:p>
          <a:p>
            <a:pPr>
              <a:spcBef>
                <a:spcPts val="200"/>
              </a:spcBef>
              <a:defRPr sz="1300">
                <a:solidFill>
                  <a:srgbClr val="C0C0C0"/>
                </a:solidFill>
              </a:defRPr>
            </a:pPr>
            <a:r>
              <a:t>Land commitment by January 2025 → Q2 2027 production achievable</a:t>
            </a:r>
          </a:p>
          <a:p>
            <a:pPr>
              <a:spcBef>
                <a:spcPts val="200"/>
              </a:spcBef>
              <a:defRPr sz="1300" b="1">
                <a:solidFill>
                  <a:srgbClr val="B87333"/>
                </a:solidFill>
              </a:defRPr>
            </a:pPr>
            <a:r>
              <a:t>Delays in land commitment → Timeline pushes back proportionally</a:t>
            </a:r>
          </a:p>
        </p:txBody>
      </p:sp>
      <p:pic>
        <p:nvPicPr>
          <p:cNvPr id="20" name="Picture 19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87333"/>
                </a:solidFill>
              </a:defRPr>
            </a:pPr>
            <a:r>
              <a:t>LEADERSHIP TEAM: PROVEN OPERATORS, NOT FIRST-TIME FOUNDERS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840480" cy="219456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87333"/>
                </a:solidFill>
              </a:defRPr>
            </a:pPr>
            <a:r>
              <a:t>Pratik Jhaveri</a:t>
            </a:r>
          </a:p>
          <a:p>
            <a:pPr algn="ctr"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Founder &amp; Technical Director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Former owner: Jhaveri Weld Flux Ltd. (publicly traded, BSE/ASE)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25+ years SAW flux manufacturing experience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Production-ready formulations (proven IP)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Lead Software Engineer (Aylo)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59" y="1097280"/>
            <a:ext cx="3840480" cy="219456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87333"/>
                </a:solidFill>
              </a:defRPr>
            </a:pPr>
            <a:r>
              <a:t>Arpan Patel</a:t>
            </a:r>
          </a:p>
          <a:p>
            <a:pPr algn="ctr"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Chief Operating Officer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Logistics &amp; operations expert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Loblaws Canada supply chain management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Process optimization &amp; efficiency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Vendor management &amp; procurement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3840480" cy="219456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87333"/>
                </a:solidFill>
              </a:defRPr>
            </a:pPr>
            <a:r>
              <a:t>Abhishek Patel</a:t>
            </a:r>
          </a:p>
          <a:p>
            <a:pPr algn="ctr"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Chief Commercial Officer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Sales &amp; marketing specialist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Customer acquisition &amp; retention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Market development strategy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B2B sales cycles (industrial)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3566160"/>
            <a:ext cx="3840480" cy="219456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87333"/>
                </a:solidFill>
              </a:defRPr>
            </a:pPr>
            <a:r>
              <a:t>Bhargav Patel</a:t>
            </a:r>
          </a:p>
          <a:p>
            <a:pPr algn="ctr"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Chief Compliance Officer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IT systems &amp; process compliance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Detail-oriented regulatory management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Quality management systems (QMS)</a:t>
            </a:r>
          </a:p>
          <a:p>
            <a:pPr>
              <a:spcBef>
                <a:spcPts val="300"/>
              </a:spcBef>
              <a:defRPr sz="900">
                <a:solidFill>
                  <a:srgbClr val="C0C0C0"/>
                </a:solidFill>
              </a:defRPr>
            </a:pPr>
            <a:r>
              <a:t>• AWS/CSA certification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7333"/>
                </a:solidFill>
              </a:defRPr>
            </a:pPr>
            <a:r>
              <a:t>PARTNERSHIP: Equal 25% equity split | Aligned incentives | Full-time commitment by 2026</a:t>
            </a:r>
          </a:p>
        </p:txBody>
      </p:sp>
      <p:pic>
        <p:nvPicPr>
          <p:cNvPr id="8" name="Picture 7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THE PATH FORWARD — IF WE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IMMEDIATE ACTIONS (December 2024 - January 2025)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1. Draft MOU: Land structure, site selection, timeline, responsibilities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2. Site Identification: City identifies 2-3 industrial parcels (10-15 acres)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3. Municipal Support Letter: For PrairiesCan &amp; Alberta Innovates (deadline mid-January)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4. Legal Framework: Land transfer/lease agreements, council approval, media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SUCCESS METRICS — WHAT GOOD LOOKS LIKE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NEAR-TERM (Q1-Q2 2025): MOU signed | Land committed | $1M+ federal grants submitted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MID-TERM (2025-2027): Federal funding secured | Facility constructed | Production launch Q2 2027</a:t>
            </a:r>
          </a:p>
          <a:p>
            <a:pPr>
              <a:spcBef>
                <a:spcPts val="600"/>
              </a:spcBef>
              <a:defRPr sz="1200">
                <a:solidFill>
                  <a:srgbClr val="C0C0C0"/>
                </a:solidFill>
              </a:defRPr>
            </a:pPr>
            <a:r>
              <a:t>LONG-TERM (2027-2031): 40 jobs | $33M annual production | IPO or acquisition event</a:t>
            </a:r>
          </a:p>
        </p:txBody>
      </p:sp>
      <p:pic>
        <p:nvPicPr>
          <p:cNvPr id="5" name="Picture 4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uxgen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LET'S BUILD CANADA'S FIRST SAW FLUX MANUFACTURER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THE PARTNERSHIP VALUE EXCHANGE:</a:t>
            </a:r>
          </a:p>
          <a:p>
            <a:pPr algn="ctr">
              <a:spcBef>
                <a:spcPts val="800"/>
              </a:spcBef>
              <a:defRPr sz="1300">
                <a:solidFill>
                  <a:srgbClr val="C0C0C0"/>
                </a:solidFill>
              </a:defRPr>
            </a:pPr>
            <a:r>
              <a:t>YOU PROVIDE: 10-15 acres industrial land + Letter of support + Utility cooperation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B87333"/>
                </a:solidFill>
              </a:defRPr>
            </a:pPr>
            <a:r>
              <a:t>WE PROVIDE: $9.17M investment + 40 jobs + $312M economic impact (7-year) + National prestige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0C0C0"/>
                </a:solidFill>
              </a:defRPr>
            </a:pPr>
            <a:r>
              <a:t>Pratik Jhaveri | Founder &amp; Technical Director | FluxGen Industries Ltd.</a:t>
            </a:r>
          </a:p>
          <a:p>
            <a:pPr algn="ctr">
              <a:defRPr sz="1200">
                <a:solidFill>
                  <a:srgbClr val="C0C0C0"/>
                </a:solidFill>
              </a:defRPr>
            </a:pPr>
            <a:r>
              <a:t>pratik@fluxgen.ca | Airdrie, Alberta,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Can we work together to make this happen?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