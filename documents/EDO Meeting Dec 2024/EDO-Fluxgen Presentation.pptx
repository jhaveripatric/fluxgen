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18" roundtripDataSignature="AMtx7miZLBGZIjR4vI5w4jh8eHNWaY8zc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(0:00 - 2:00 minutes)</a:t>
            </a:r>
            <a:br>
              <a:rPr b="1" lang="en-CA">
                <a:solidFill>
                  <a:schemeClr val="dk1"/>
                </a:solidFill>
              </a:rPr>
            </a:br>
            <a:r>
              <a:rPr b="1" lang="en-CA">
                <a:solidFill>
                  <a:schemeClr val="dk1"/>
                </a:solidFill>
              </a:rPr>
              <a:t>[As you sit down, make small talk while setting up]</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"Chad, thanks so much for meeting with us today. Before we dive in, I wanted to introduce our team. I'm Abhishek Patel, Chief Commercial Officer of FluxGen. With me are [if present] Pratik Jhaveri, our CTO, Arpan Patel, our COO, and Bhargav Patel, our Chief Compliance Officer."</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[Pause for handshakes/greetings]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"We've prepared a short presentation — about 15 minutes — and then we'd love to hear your thoughts and answer questions. "</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[Wait for acknowledgment]</a:t>
            </a:r>
            <a:endParaRPr b="1">
              <a:solidFill>
                <a:schemeClr val="dk1"/>
              </a:solidFill>
            </a:endParaRPr>
          </a:p>
          <a:p>
            <a:pPr indent="0" lvl="0" marL="0" rtl="0" algn="l">
              <a:lnSpc>
                <a:spcPct val="115000"/>
              </a:lnSpc>
              <a:spcBef>
                <a:spcPts val="1200"/>
              </a:spcBef>
              <a:spcAft>
                <a:spcPts val="1200"/>
              </a:spcAft>
              <a:buSzPts val="1100"/>
              <a:buNone/>
            </a:pPr>
            <a:r>
              <a:rPr i="1" lang="en-CA">
                <a:solidFill>
                  <a:schemeClr val="dk1"/>
                </a:solidFill>
              </a:rPr>
              <a:t>"Perfect. So let me start with why we're here."</a:t>
            </a:r>
            <a:endParaRPr/>
          </a:p>
        </p:txBody>
      </p:sp>
      <p:sp>
        <p:nvSpPr>
          <p:cNvPr id="52" name="Google Shape;52;p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[2:00 - 4:00 minutes]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"Before we dive into the nitty gritty, I want to show you the market opportunity we've identified."</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[Point to the $33M stat]</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"Canada currently imports 100% of its SAW flux — that's Submerged Arc Welding flux, a critical consumable used in pipeline welding, shipbuilding, and heavy equipment manufacturing. We're talking about $33 million per year leaving the country to pay foreign suppliers."</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"Now, here's what's interesting: Canada has massive demand for this product — Est. 11,000 tonnes per year. Alberta specifically is a huge consumer because of pipeline welding. But there's not a single domestic manufacturer. Not one."</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"So every welding company, every pipeline contractor, every fabrication shop is 100% dependent on U.S., European, or Asian suppliers. That creates supply chain vulnerability, currency exchange risk, and longer lead times."</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[Lean forward slightly — this is the setup]</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"Canada has the demand. Canada has the raw materials. Canada has the skilled workforce. What's missing is someone willing to build the manufacturing capability."</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[Pause for 2 seconds]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"That's where FluxGen comes in. And we want to build it right here in Airdrie."</a:t>
            </a:r>
            <a:endParaRPr i="1">
              <a:solidFill>
                <a:schemeClr val="dk1"/>
              </a:solidFill>
            </a:endParaRPr>
          </a:p>
          <a:p>
            <a:pPr indent="0" lvl="0" marL="0" rtl="0" algn="l">
              <a:lnSpc>
                <a:spcPct val="115000"/>
              </a:lnSpc>
              <a:spcBef>
                <a:spcPts val="1200"/>
              </a:spcBef>
              <a:spcAft>
                <a:spcPts val="1200"/>
              </a:spcAft>
              <a:buSzPts val="1100"/>
              <a:buNone/>
            </a:pPr>
            <a:r>
              <a:rPr b="1" lang="en-CA">
                <a:solidFill>
                  <a:schemeClr val="dk1"/>
                </a:solidFill>
              </a:rPr>
              <a:t>[Watch Chad's body language — is he leaning in? Taking notes? Adjust pacing accordingly]</a:t>
            </a:r>
            <a:endParaRPr/>
          </a:p>
        </p:txBody>
      </p:sp>
      <p:sp>
        <p:nvSpPr>
          <p:cNvPr id="62" name="Google Shape;62;p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[4:00 - 6:30 minutes]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"Let me tell you about FluxGen Industries."</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"We're positioning ourselves as Canada's first SAW flux and alloy manufacturer, headquartered in Airdrie. Our value proposition rests on three pillars."</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[Point to the three columns]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First: Proven Technology</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"This is not a speculative startup trying to invent something new. We have production-ready formulations from Mr. Pratik’s company in India — Jhaveri Weldflux Limited, which was publicly traded on the Bombay and Ahmedabad stock exchanges for over two decades."</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"He grew up in this business. He knows every aspect of flux manufacturing — from formulation chemistry to quality control to customer requirements. We're not doing R&amp;D. We're transferring proven IP to Canada."</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Second: Market Ready</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"There's immediate demand. 11,000 tonnes per year of Canadian consumption, 100% currently imported. We're not hoping to find customers — they already exist. They're just buying from foreign suppliers right now."</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Third: Export Potential</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"We're also creating a subsidiary called ArcNova Materials for export development. Once we establish domestic production, we'll target the U.S. market, which is 10x the size of Canada's, and eventually India. That means we're bringing foreign revenue INTO Alberta."</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[Point to timeline]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"Our growth strategy is phased and de-risked. Year 1-2, pilot production — 800 tonnes, $2.5 million in revenue, 10 jobs. Year 3-4, we scale to 3,000 tonnes, thats $12 million revenue. Year 5-7, full capacity at 6,000 tonnes, upto $30 million revenue, and we begin forward integration into flux-cored wire manufacturing."</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"This isn't hockey-stick fantasy projections. This is conservative, milestone-based growth backed by real market data."</a:t>
            </a:r>
            <a:endParaRPr i="1">
              <a:solidFill>
                <a:schemeClr val="dk1"/>
              </a:solidFill>
            </a:endParaRPr>
          </a:p>
          <a:p>
            <a:pPr indent="0" lvl="0" marL="0" rtl="0" algn="l">
              <a:lnSpc>
                <a:spcPct val="100000"/>
              </a:lnSpc>
              <a:spcBef>
                <a:spcPts val="1200"/>
              </a:spcBef>
              <a:spcAft>
                <a:spcPts val="0"/>
              </a:spcAft>
              <a:buSzPts val="1100"/>
              <a:buNone/>
            </a:pPr>
            <a:r>
              <a:t/>
            </a:r>
            <a:endParaRPr/>
          </a:p>
        </p:txBody>
      </p:sp>
      <p:sp>
        <p:nvSpPr>
          <p:cNvPr id="71" name="Google Shape;71;p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[6:30 - 8:30 minutes]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"Okay, so here's what we're asking from the City of Airdrie."</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[This is THE critical slide — slow down, be very clear]</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First: Land</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"We need 10 to 15 acres of industrial-zoned land. We're open to two structures: either a free land grant as a community investment, or a heavily discounted long-term lease — something similar to what you offered in Grand Prairie, then transition to fair market value."</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"The reason this matters is that land is the foundation of everything else. We can't apply for federal grants, we can't finalize equipment procurement, we can't begin engineering until we know where we're building."</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Second: Letter of Municipal Support</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"We need Airdrie's formal letter of support for our federal grant applications. We're targeting PrairiesCan's Business Scale-up and Productivity program, Alberta Innovates, and CanExport for our export division."</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"Here's why this is important for Airdrie: federal grantors LOVE to see municipal partnership. When we show up with a letter saying 'The City of Airdrie has committed land and supports this project,' it dramatically increases our chances of securing federal funding. You're not writing the cheque — you're helping us unlock federal dollars that come into Alberta."</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Third: Utility and Permitting Cooperation</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"We need guidance on power, water, and natural gas routing, and a collaborative approach to building permits, environmental permits, and operational licenses. We're not asking for shortcuts or special treatment — just partnership and responsiveness."</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[Point to the "What We're NOT Requesting" section]</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"Now, let me be very clear about what we are NOT asking for."</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"We are not asking for loan guarantees. We're securing our capital through federal grants and private investment."</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[Pause, make eye contact]</a:t>
            </a:r>
            <a:endParaRPr b="1">
              <a:solidFill>
                <a:schemeClr val="dk1"/>
              </a:solidFill>
            </a:endParaRPr>
          </a:p>
          <a:p>
            <a:pPr indent="0" lvl="0" marL="0" rtl="0" algn="l">
              <a:lnSpc>
                <a:spcPct val="115000"/>
              </a:lnSpc>
              <a:spcBef>
                <a:spcPts val="1200"/>
              </a:spcBef>
              <a:spcAft>
                <a:spcPts val="1200"/>
              </a:spcAft>
              <a:buSzPts val="1100"/>
              <a:buNone/>
            </a:pPr>
            <a:r>
              <a:rPr i="1" lang="en-CA">
                <a:solidFill>
                  <a:schemeClr val="dk1"/>
                </a:solidFill>
              </a:rPr>
              <a:t>"Airdrie's role in this partnership is land and support — not writing checks."</a:t>
            </a:r>
            <a:endParaRPr/>
          </a:p>
        </p:txBody>
      </p:sp>
      <p:sp>
        <p:nvSpPr>
          <p:cNvPr id="84" name="Google Shape;84;p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[8:30 - 11:00 minutes]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"So that's what we're asking for. Now let me show you what Airdrie gets in return."</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[This is the most important slide — take your time]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"This is a 7-year community impact table. Let me walk you through it."</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Jobs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"Year 1, we create 10 direct jobs. Year 3, that grows by 120%. By Year 7, we grow by 300% of skilled manufacturing positions. These aren't minimum-wage retail jobs — these are metallurgists, chemical engineers, QC technicians, production operators earning $55,000 to $75,000 per year. (as per 2025)"</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Payroll</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"Year 1 payroll: est. $600,000. Year 7: est. $2.8 million annually. Over 7 years, that's upto $12 million in wages paid to local workers."</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Production Value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"Our production ramps from $2.5 million in Year 1 to $30 million in Year 7. Cumulative production value over 7 years: est. at $156 million."</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Property Tax</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"We estimate $300,000 to $400,000 in property tax revenue over 7 years — from a vacant land that's currently generating nothing."</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Export Revenue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"Through ArcNova Materials, we'll be bringing in export revenue starting Year 3 — $2 million initially, scaling to $8 million by Year 7. That's foreign currency coming INTO Alberta's economy."</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Economic Multiplier</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"Here's the big one: economic multiplier effect. Every dollar of flux sales generates $2 to $3 in regional economic activity through suppliers, logistics companies, contractors, and services. By Year 7, FluxGen's $66 million annual impact ripples through the Airdrie economy."</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[Point to the bottom line]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"Total 7-year economic impact to the Airdrie region: $312 million."</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[Let that number hang in the air for 2 seconds]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"So here's the value exchange:"</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"Airdrie invests 10 to 15 acres of industrial land that's currently sitting empty, generating zero tax revenue and zero jobs."</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"Airdrie receives: $312 million in economic impact, multiple skilled manufacturing jobs, Est. $300,000 to $400,000 in property tax, and national prestige as the home of Canada's first flux manufacturer."</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[Lean back slightly, smile]</a:t>
            </a:r>
            <a:endParaRPr b="1">
              <a:solidFill>
                <a:schemeClr val="dk1"/>
              </a:solidFill>
            </a:endParaRPr>
          </a:p>
          <a:p>
            <a:pPr indent="0" lvl="0" marL="0" rtl="0" algn="l">
              <a:lnSpc>
                <a:spcPct val="115000"/>
              </a:lnSpc>
              <a:spcBef>
                <a:spcPts val="1200"/>
              </a:spcBef>
              <a:spcAft>
                <a:spcPts val="1200"/>
              </a:spcAft>
              <a:buSzPts val="1100"/>
              <a:buNone/>
            </a:pPr>
            <a:r>
              <a:rPr i="1" lang="en-CA">
                <a:solidFill>
                  <a:schemeClr val="dk1"/>
                </a:solidFill>
              </a:rPr>
              <a:t>"That's a pretty good return on investment."</a:t>
            </a:r>
            <a:endParaRPr/>
          </a:p>
        </p:txBody>
      </p:sp>
      <p:sp>
        <p:nvSpPr>
          <p:cNvPr id="96" name="Google Shape;96;p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[11:00 - 12:30 minutes]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"Chad, I've spent time reading Airdrie's Economic Strategy 2018-2028. What I love about this opportunity is how perfectly FluxGen aligns with what Airdrie is already trying to achieve."</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[Point to the three objectives]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"As I understand, Your strategy has three core objectives."</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The Place to Be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"Drawing the best talent to Airdrie. We deliver multiple skilled manufacturing jobs — metallurgists, engineers, technicians — with wages well above the service sector. These are people with families, buying homes, spending money locally."</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Right for Business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"Attracting new investment and growing the tax base. We're investing Est. $9.17 million in Phase 1 capital alone, building a facility on 10 to 15 acres, and directly contributing to your stated goal of shifting the tax base away from residential toward commercial and industrial."</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A Connected Community</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"Capitalizing on Airdrie's location. We're 15 minutes from Calgary International Airport, perfect for export logistics through ArcNova Materials. We're bringing foreign revenue INTO Alberta instead of sending Canadian dollars out."</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[Point to the bottom statement]</a:t>
            </a:r>
            <a:endParaRPr b="1">
              <a:solidFill>
                <a:schemeClr val="dk1"/>
              </a:solidFill>
            </a:endParaRPr>
          </a:p>
          <a:p>
            <a:pPr indent="0" lvl="0" marL="0" rtl="0" algn="l">
              <a:lnSpc>
                <a:spcPct val="115000"/>
              </a:lnSpc>
              <a:spcBef>
                <a:spcPts val="1200"/>
              </a:spcBef>
              <a:spcAft>
                <a:spcPts val="1200"/>
              </a:spcAft>
              <a:buSzPts val="1100"/>
              <a:buNone/>
            </a:pPr>
            <a:r>
              <a:rPr i="1" lang="en-CA">
                <a:solidFill>
                  <a:schemeClr val="dk1"/>
                </a:solidFill>
              </a:rPr>
              <a:t>"Your Economic Strategy says: 'Shift the tax base by attracting new industries.' That is EXACTLY what FluxGen delivers. We're not asking you to change direction — we're asking you to accelerate what you're already trying to do."</a:t>
            </a:r>
            <a:endParaRPr/>
          </a:p>
        </p:txBody>
      </p:sp>
      <p:sp>
        <p:nvSpPr>
          <p:cNvPr id="115" name="Google Shape;115;p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[12:30 - 13:30 minutes]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"Now, I know what you might be thinking: 'This sounds great, but how do I know FluxGen will actually succeed?' Let me address that."</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"We've structured this around four de-risking pillars."</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Proven Technology</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"We're not in R&amp;D mode. We have production-ready formulations from a publicly traded flux manufacturer. My family ran Jhaveri Weldflux ltd. for over 40 years on the Bombay and Ahmedabad stock exchanges. This is proven, commercial-scale IP."</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Guaranteed Demand</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"100% import dependency means we have a guaranteed customer base. We're not hoping to find buyers — they already exist. They're already purchasing est. 11,000 tonnes per year, just from foreign suppliers. Pipeline welding, which is huge in Alberta, is our core market."</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Experienced Team</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"We're not first-time founders. I have 40 years in flux manufacturing. Arpan has logistics and operations expertise from Loblaws. Abhishek brings sales and marketing. Bhargav handles compliance and quality systems. And we're all equal partners — aligned incentives."</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Phased Growth</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"We're not betting everything on Year 1. We start with pilot production, validate the market, build the brand, then scale in stages. Capital is raised incrementally, tied to milestones. This is low-risk, high-reward expansion."</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[Emphasize this next point]</a:t>
            </a:r>
            <a:endParaRPr b="1">
              <a:solidFill>
                <a:schemeClr val="dk1"/>
              </a:solidFill>
            </a:endParaRPr>
          </a:p>
          <a:p>
            <a:pPr indent="0" lvl="0" marL="0" rtl="0" algn="l">
              <a:lnSpc>
                <a:spcPct val="115000"/>
              </a:lnSpc>
              <a:spcBef>
                <a:spcPts val="1200"/>
              </a:spcBef>
              <a:spcAft>
                <a:spcPts val="1200"/>
              </a:spcAft>
              <a:buSzPts val="1100"/>
              <a:buNone/>
            </a:pPr>
            <a:r>
              <a:rPr i="1" lang="en-CA">
                <a:solidFill>
                  <a:schemeClr val="dk1"/>
                </a:solidFill>
              </a:rPr>
              <a:t>"Most startups fail because they're trying to invent something OR find a market. We do not have this problem. This is proven technology meeting guaranteed demand."</a:t>
            </a:r>
            <a:endParaRPr/>
          </a:p>
        </p:txBody>
      </p:sp>
      <p:sp>
        <p:nvSpPr>
          <p:cNvPr id="125" name="Google Shape;125;p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[13:30 - 14:30 minutes]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"There's one more benefit I want to highlight that's hard to quantify but incredibly valuable: national prestige."</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"FluxGen will be Canada's FIRST SAW flux manufacturer. That's a permanent designation. And every time we're in the news — trade publications, industry conferences, IPO coverage in Year 7 — the story will be: 'Canada's first flux manufacturer, headquartered in Airdrie, Alberta.'"</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Media Coverage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"Every welding industry article, every AWS conference presentation, every business profile will mention Airdrie. That's brand visibility money can't buy."</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Attracts Complementary Businesses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"Once we're operational, flux-cored wire manufacturers, electrode suppliers, welding equipment distributors — they'll all want to be near us. Airdrie becomes the advanced manufacturing cluster for welding consumables in Western Canada."</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Federal/Provincial Attention</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"Ministerial visits, funding announcements, pilot program participation. When the government wants to showcase successful regional economic diversification, Airdrie becomes the case study."</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[Smile]</a:t>
            </a:r>
            <a:endParaRPr b="1">
              <a:solidFill>
                <a:schemeClr val="dk1"/>
              </a:solidFill>
            </a:endParaRPr>
          </a:p>
          <a:p>
            <a:pPr indent="0" lvl="0" marL="0" rtl="0" algn="l">
              <a:lnSpc>
                <a:spcPct val="115000"/>
              </a:lnSpc>
              <a:spcBef>
                <a:spcPts val="1200"/>
              </a:spcBef>
              <a:spcAft>
                <a:spcPts val="1200"/>
              </a:spcAft>
              <a:buSzPts val="1100"/>
              <a:buNone/>
            </a:pPr>
            <a:r>
              <a:rPr i="1" lang="en-CA">
                <a:solidFill>
                  <a:schemeClr val="dk1"/>
                </a:solidFill>
              </a:rPr>
              <a:t>"In 10 years, when economic development officers across Canada talk about how to attract advanced manufacturing, they'll say: 'Look at what Airdrie did with FluxGen.'"</a:t>
            </a:r>
            <a:endParaRPr/>
          </a:p>
        </p:txBody>
      </p:sp>
      <p:sp>
        <p:nvSpPr>
          <p:cNvPr id="136" name="Google Shape;136;p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[14:30 - 15:30 minutes]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"Let me show you the timeline if we move forward together."</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December 2025 - January 2026</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"If we reach agreement today, we draft an MOU in December outlining the land terms and partnership commitments. By January, we formalize the land commitment."</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Q1 2026</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"We submit federal grant applications — PrairiesCan, Alberta Innovates, CanExport. The municipal support letter is critical here. We also begin equipment procurement planning."</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Q2-Q3 2026</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"Land transfer or lease is finalized. We conduct environmental studies and begin site preparation."</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Q4 2026 - Q2 2027</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"Facility design, engineering drawings, building permits. Construction begins. Equipment delivery — the rotary dryer and calciner have a 20-week lead time, so they're on the critical path."</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Q3 2027 - Q2 2028</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"Equipment installation, commissioning, testing. Staff training. Raw material contracts. AWS certification process. And then: production start in Q2 2027."</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[Point to the decision point callout]</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"The critical path starts with land commitment. If Airdrie commits by January 2026, we can hit our Q2 2028 production target. Every month of delay pushes that timeline back proportionally."</a:t>
            </a:r>
            <a:endParaRPr i="1">
              <a:solidFill>
                <a:schemeClr val="dk1"/>
              </a:solidFill>
            </a:endParaRPr>
          </a:p>
          <a:p>
            <a:pPr indent="0" lvl="0" marL="0" rtl="0" algn="l">
              <a:lnSpc>
                <a:spcPct val="115000"/>
              </a:lnSpc>
              <a:spcBef>
                <a:spcPts val="1200"/>
              </a:spcBef>
              <a:spcAft>
                <a:spcPts val="1200"/>
              </a:spcAft>
              <a:buSzPts val="1100"/>
              <a:buNone/>
            </a:pPr>
            <a:r>
              <a:rPr i="1" lang="en-CA">
                <a:solidFill>
                  <a:schemeClr val="dk1"/>
                </a:solidFill>
              </a:rPr>
              <a:t>"Q2 2028 is when Airdrie starts seeing jobs, tax revenue, and economic activity. So timing matters."</a:t>
            </a:r>
            <a:endParaRPr/>
          </a:p>
        </p:txBody>
      </p:sp>
      <p:sp>
        <p:nvSpPr>
          <p:cNvPr id="147" name="Google Shape;147;p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[15:30 - 16:30 minutes]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"Let me briefly introduce our team."</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[Point to each column]</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Pratik Jhaveri (you)</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"That's me. Former owner of Jhaveri Weldflux, publicly traded company in India. 40 years in flux manufacturing. I know formulations, production processes, quality control, customer requirements. Currently Lead Software Engineer at Aylo, but transitioning full-time to FluxGen by 2026."</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Arpan Patel</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"Our COO. Logistics and operations expert with supply chain experience at Loblaws Canada. He handles vendor management, process optimization, procurement."</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Abhishek Patel</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"Our Chief Commercial Officer. Sales and marketing specialist focused on B2B sales cycles and market development. He's building our customer pipeline and brand positioning."</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Bhargav Patel</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"Our Chief Compliance Officer. IT and quality management systems expert. He's handling AWS and CSA certification preparation, documentation, traceability — all the regulatory requirements."</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[Point to partnership structure]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"We're equal partners — 25% equity each. That alignment is critical. We all win only if FluxGen succeeds."</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[Point to public company experience]</a:t>
            </a:r>
            <a:endParaRPr b="1">
              <a:solidFill>
                <a:schemeClr val="dk1"/>
              </a:solidFill>
            </a:endParaRPr>
          </a:p>
          <a:p>
            <a:pPr indent="0" lvl="0" marL="0" rtl="0" algn="l">
              <a:lnSpc>
                <a:spcPct val="115000"/>
              </a:lnSpc>
              <a:spcBef>
                <a:spcPts val="1200"/>
              </a:spcBef>
              <a:spcAft>
                <a:spcPts val="1200"/>
              </a:spcAft>
              <a:buSzPts val="1100"/>
              <a:buNone/>
            </a:pPr>
            <a:r>
              <a:rPr i="1" lang="en-CA">
                <a:solidFill>
                  <a:schemeClr val="dk1"/>
                </a:solidFill>
              </a:rPr>
              <a:t>"And here's an important credential: my family operated Jhaveri Weldflux as a publicly traded entity on the Bombay and Ahmedabad stock exchanges. We know how to scale manufacturing, meet regulatory requirements, deliver financial transparency, and navigate quality audits. This isn't our first rodeo."</a:t>
            </a:r>
            <a:endParaRPr/>
          </a:p>
        </p:txBody>
      </p:sp>
      <p:sp>
        <p:nvSpPr>
          <p:cNvPr id="170" name="Google Shape;170;p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[16:30 - 17:30 minutes]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"So if we decide to partner, here's what happens next."</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Immediate Actions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"December and January: We draft an MOU outlining land structure, timeline, and commitments. The city identifies 2 to 3 potential industrial parcels for us to review. You provide a municipal support letter for our federal grant applications — deadline mid-January for Q1 submissions. And we engage lawyers to formalize the land agreement."</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Success Metrics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"By Q1 2026, we want MOU signed, land committed, and federal grants submitted. By mid-2026, we want $1 million-plus in federal funding secured. By Q2 2028, production launch and first commercial shipments. By 2032, multiple jobs, $30 million annual production, and potentially an IPO or acquisition event."</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[Slow down for this next part]</a:t>
            </a:r>
            <a:endParaRPr b="1">
              <a:solidFill>
                <a:schemeClr val="dk1"/>
              </a:solidFill>
            </a:endParaRPr>
          </a:p>
          <a:p>
            <a:pPr indent="0" lvl="0" marL="0" rtl="0" algn="l">
              <a:lnSpc>
                <a:spcPct val="115000"/>
              </a:lnSpc>
              <a:spcBef>
                <a:spcPts val="1200"/>
              </a:spcBef>
              <a:spcAft>
                <a:spcPts val="1200"/>
              </a:spcAft>
              <a:buSzPts val="1100"/>
              <a:buNone/>
            </a:pPr>
            <a:r>
              <a:rPr i="1" lang="en-CA">
                <a:solidFill>
                  <a:schemeClr val="dk1"/>
                </a:solidFill>
              </a:rPr>
              <a:t>"Chad, the decision point is simple: if Airdrie commits to land by January 2026, everything else flows from there. We can hit our timeline, secure federal funding, and be in production by Q2 2028. If there's hesitation or delays, the timeline pushes back, and Airdrie loses first-mover advantage."</a:t>
            </a:r>
            <a:endParaRPr/>
          </a:p>
        </p:txBody>
      </p:sp>
      <p:sp>
        <p:nvSpPr>
          <p:cNvPr id="181" name="Google Shape;181;p1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[17:30 - 19:00 minutes]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"Let me wrap up with the core value exchange."</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[Point to left column]</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"You provide: 10 to 15 acres of industrial land, a letter of municipal support, and utility and permitting cooperation."</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[Point to right column]</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"We provide: $9+ million in capital investment, 40+ skilled manufacturing jobs, $312 million in economic impact over 7 years, est. $350K+ in property tax revenue, national prestige as Canada's first flux manufacturer, and tax base diversification into advanced manufacturing."</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[Lean forward, make eye contact]</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"This is a partnership, Chad. Not a handout. Airdrie's investment is land that's currently generating zero tax revenue and zero jobs. FluxGen's investment is capital, expertise, jobs, and economic multiplier effects."</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"Together, we make Airdrie the home of advanced manufacturing in Canada."</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[Pause for 2 seconds]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"We're ready to begin MOU discussions immediately. We're committed to this region, we're committed to this timeline, and we're committed to making Airdrie successful."</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CA">
                <a:solidFill>
                  <a:schemeClr val="dk1"/>
                </a:solidFill>
              </a:rPr>
              <a:t>[Final ask]</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CA">
                <a:solidFill>
                  <a:schemeClr val="dk1"/>
                </a:solidFill>
              </a:rPr>
              <a:t>"Can we work together to make this happen?"</a:t>
            </a:r>
            <a:endParaRPr i="1">
              <a:solidFill>
                <a:schemeClr val="dk1"/>
              </a:solidFill>
            </a:endParaRPr>
          </a:p>
          <a:p>
            <a:pPr indent="0" lvl="0" marL="0" rtl="0" algn="l">
              <a:lnSpc>
                <a:spcPct val="115000"/>
              </a:lnSpc>
              <a:spcBef>
                <a:spcPts val="1200"/>
              </a:spcBef>
              <a:spcAft>
                <a:spcPts val="1200"/>
              </a:spcAft>
              <a:buSzPts val="1100"/>
              <a:buNone/>
            </a:pPr>
            <a:r>
              <a:rPr b="1" lang="en-CA">
                <a:solidFill>
                  <a:schemeClr val="dk1"/>
                </a:solidFill>
              </a:rPr>
              <a:t>[Stop talking. Let Chad respond. Do NOT fill the silence.]</a:t>
            </a:r>
            <a:endParaRPr/>
          </a:p>
        </p:txBody>
      </p:sp>
      <p:sp>
        <p:nvSpPr>
          <p:cNvPr id="189" name="Google Shape;189;p1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3" name="Google Shape;13;p1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 name="Google Shape;14;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1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7" name="Google Shape;17;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 name="Google Shape;20;p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1" name="Google Shape;21;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1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1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20"/>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20"/>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2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2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2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2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2" name="Google Shape;42;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23"/>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5" name="Google Shape;45;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24"/>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24"/>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9" name="Google Shape;49;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 name="Shape 53"/>
        <p:cNvGrpSpPr/>
        <p:nvPr/>
      </p:nvGrpSpPr>
      <p:grpSpPr>
        <a:xfrm>
          <a:off x="0" y="0"/>
          <a:ext cx="0" cy="0"/>
          <a:chOff x="0" y="0"/>
          <a:chExt cx="0" cy="0"/>
        </a:xfrm>
      </p:grpSpPr>
      <p:sp>
        <p:nvSpPr>
          <p:cNvPr id="54" name="Google Shape;54;p1"/>
          <p:cNvSpPr txBox="1"/>
          <p:nvPr/>
        </p:nvSpPr>
        <p:spPr>
          <a:xfrm>
            <a:off x="914400" y="1920247"/>
            <a:ext cx="73152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CA" sz="1800" u="none" cap="none" strike="noStrike">
                <a:solidFill>
                  <a:srgbClr val="2C3E50"/>
                </a:solidFill>
                <a:latin typeface="Calibri"/>
                <a:ea typeface="Calibri"/>
                <a:cs typeface="Calibri"/>
                <a:sym typeface="Calibri"/>
              </a:rPr>
              <a:t>Partnership Proposal to City of Airdrie Economic Development</a:t>
            </a:r>
            <a:endParaRPr b="0" i="0" sz="1400" u="none" cap="none" strike="noStrike">
              <a:solidFill>
                <a:srgbClr val="2C3E5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CA" sz="1800" u="none" cap="none" strike="noStrike">
                <a:solidFill>
                  <a:srgbClr val="2C3E50"/>
                </a:solidFill>
                <a:latin typeface="Calibri"/>
                <a:ea typeface="Calibri"/>
                <a:cs typeface="Calibri"/>
                <a:sym typeface="Calibri"/>
              </a:rPr>
              <a:t>Building Canada's First SAW Flux Manufacturing Capability</a:t>
            </a:r>
            <a:endParaRPr b="0" i="0" sz="1400" u="none" cap="none" strike="noStrike">
              <a:solidFill>
                <a:srgbClr val="2C3E50"/>
              </a:solidFill>
              <a:latin typeface="Arial"/>
              <a:ea typeface="Arial"/>
              <a:cs typeface="Arial"/>
              <a:sym typeface="Arial"/>
            </a:endParaRPr>
          </a:p>
        </p:txBody>
      </p:sp>
      <p:sp>
        <p:nvSpPr>
          <p:cNvPr id="55" name="Google Shape;55;p1"/>
          <p:cNvSpPr/>
          <p:nvPr/>
        </p:nvSpPr>
        <p:spPr>
          <a:xfrm>
            <a:off x="1371600" y="2633910"/>
            <a:ext cx="6400800" cy="13800"/>
          </a:xfrm>
          <a:prstGeom prst="rect">
            <a:avLst/>
          </a:prstGeom>
          <a:solidFill>
            <a:srgbClr val="B87333"/>
          </a:solidFill>
          <a:ln>
            <a:noFill/>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 name="Google Shape;56;p1"/>
          <p:cNvSpPr txBox="1"/>
          <p:nvPr/>
        </p:nvSpPr>
        <p:spPr>
          <a:xfrm>
            <a:off x="914400" y="2830200"/>
            <a:ext cx="7315200" cy="785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500"/>
              <a:buFont typeface="Arial"/>
              <a:buNone/>
            </a:pPr>
            <a:r>
              <a:rPr b="0" i="0" lang="en-CA" sz="1500" u="none" cap="none" strike="noStrike">
                <a:solidFill>
                  <a:srgbClr val="2C3E50"/>
                </a:solidFill>
                <a:latin typeface="Calibri"/>
                <a:ea typeface="Calibri"/>
                <a:cs typeface="Calibri"/>
                <a:sym typeface="Calibri"/>
              </a:rPr>
              <a:t>Presented to: Chad Sheldon, Economic Development Officer</a:t>
            </a:r>
            <a:endParaRPr b="0" i="0" sz="1500" u="none" cap="none" strike="noStrike">
              <a:solidFill>
                <a:srgbClr val="2C3E5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500"/>
              <a:buFont typeface="Arial"/>
              <a:buNone/>
            </a:pPr>
            <a:r>
              <a:rPr b="0" i="0" lang="en-CA" sz="1500" u="none" cap="none" strike="noStrike">
                <a:solidFill>
                  <a:srgbClr val="2C3E50"/>
                </a:solidFill>
                <a:latin typeface="Calibri"/>
                <a:ea typeface="Calibri"/>
                <a:cs typeface="Calibri"/>
                <a:sym typeface="Calibri"/>
              </a:rPr>
              <a:t>City of Airdrie</a:t>
            </a:r>
            <a:endParaRPr b="0" i="0" sz="1500" u="none" cap="none" strike="noStrike">
              <a:solidFill>
                <a:srgbClr val="2C3E5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500"/>
              <a:buFont typeface="Arial"/>
              <a:buNone/>
            </a:pPr>
            <a:r>
              <a:rPr b="0" i="0" lang="en-CA" sz="1500" u="none" cap="none" strike="noStrike">
                <a:solidFill>
                  <a:srgbClr val="2C3E50"/>
                </a:solidFill>
                <a:latin typeface="Calibri"/>
                <a:ea typeface="Calibri"/>
                <a:cs typeface="Calibri"/>
                <a:sym typeface="Calibri"/>
              </a:rPr>
              <a:t>Date: December 1, 2025</a:t>
            </a:r>
            <a:endParaRPr b="0" i="0" sz="1500" u="none" cap="none" strike="noStrike">
              <a:solidFill>
                <a:srgbClr val="2C3E50"/>
              </a:solidFill>
              <a:latin typeface="Arial"/>
              <a:ea typeface="Arial"/>
              <a:cs typeface="Arial"/>
              <a:sym typeface="Arial"/>
            </a:endParaRPr>
          </a:p>
        </p:txBody>
      </p:sp>
      <p:sp>
        <p:nvSpPr>
          <p:cNvPr id="57" name="Google Shape;57;p1"/>
          <p:cNvSpPr txBox="1"/>
          <p:nvPr/>
        </p:nvSpPr>
        <p:spPr>
          <a:xfrm>
            <a:off x="815825" y="3615309"/>
            <a:ext cx="7315200" cy="1185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500"/>
              <a:buFont typeface="Arial"/>
              <a:buNone/>
            </a:pPr>
            <a:r>
              <a:rPr b="1" i="0" lang="en-CA" sz="1500" u="none" cap="none" strike="noStrike">
                <a:solidFill>
                  <a:srgbClr val="B87333"/>
                </a:solidFill>
                <a:latin typeface="Calibri"/>
                <a:ea typeface="Calibri"/>
                <a:cs typeface="Calibri"/>
                <a:sym typeface="Calibri"/>
              </a:rPr>
              <a:t>PRESENTING TEAM:</a:t>
            </a:r>
            <a:endParaRPr b="0" i="0" sz="17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n-CA" sz="1400" u="none" cap="none" strike="noStrike">
                <a:solidFill>
                  <a:srgbClr val="2C3E50"/>
                </a:solidFill>
                <a:latin typeface="Calibri"/>
                <a:ea typeface="Calibri"/>
                <a:cs typeface="Calibri"/>
                <a:sym typeface="Calibri"/>
              </a:rPr>
              <a:t>                                                     Pratik Jhaveri   |  Chief Technical Officer</a:t>
            </a:r>
            <a:endParaRPr b="0" i="0" sz="1700" u="none" cap="none" strike="noStrike">
              <a:solidFill>
                <a:srgbClr val="2C3E5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CA" sz="1400" u="none" cap="none" strike="noStrike">
                <a:solidFill>
                  <a:srgbClr val="2C3E50"/>
                </a:solidFill>
                <a:latin typeface="Calibri"/>
                <a:ea typeface="Calibri"/>
                <a:cs typeface="Calibri"/>
                <a:sym typeface="Calibri"/>
              </a:rPr>
              <a:t>Arpan Patel      |  Chief Operating Officer</a:t>
            </a:r>
            <a:endParaRPr b="0" i="0" sz="1700" u="none" cap="none" strike="noStrike">
              <a:solidFill>
                <a:srgbClr val="2C3E5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CA" sz="1400" u="none" cap="none" strike="noStrike">
                <a:solidFill>
                  <a:srgbClr val="2C3E50"/>
                </a:solidFill>
                <a:latin typeface="Calibri"/>
                <a:ea typeface="Calibri"/>
                <a:cs typeface="Calibri"/>
                <a:sym typeface="Calibri"/>
              </a:rPr>
              <a:t>Abhishek Patel    |  Chief Commercial Officer</a:t>
            </a:r>
            <a:endParaRPr b="0" i="0" sz="1700" u="none" cap="none" strike="noStrike">
              <a:solidFill>
                <a:srgbClr val="2C3E5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CA" sz="1400" u="none" cap="none" strike="noStrike">
                <a:solidFill>
                  <a:srgbClr val="2C3E50"/>
                </a:solidFill>
                <a:latin typeface="Calibri"/>
                <a:ea typeface="Calibri"/>
                <a:cs typeface="Calibri"/>
                <a:sym typeface="Calibri"/>
              </a:rPr>
              <a:t>Bhargav Patel      |  Chief Compliance Officer</a:t>
            </a:r>
            <a:endParaRPr b="0" i="0" sz="1700" u="none" cap="none" strike="noStrike">
              <a:solidFill>
                <a:srgbClr val="2C3E50"/>
              </a:solidFill>
              <a:latin typeface="Arial"/>
              <a:ea typeface="Arial"/>
              <a:cs typeface="Arial"/>
              <a:sym typeface="Arial"/>
            </a:endParaRPr>
          </a:p>
        </p:txBody>
      </p:sp>
      <p:sp>
        <p:nvSpPr>
          <p:cNvPr id="58" name="Google Shape;58;p1"/>
          <p:cNvSpPr txBox="1"/>
          <p:nvPr/>
        </p:nvSpPr>
        <p:spPr>
          <a:xfrm>
            <a:off x="914400" y="4800600"/>
            <a:ext cx="7315200" cy="20574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CA" sz="1000" u="none" cap="none" strike="noStrike">
                <a:solidFill>
                  <a:srgbClr val="C0C0C0"/>
                </a:solidFill>
                <a:latin typeface="Calibri"/>
                <a:ea typeface="Calibri"/>
                <a:cs typeface="Calibri"/>
                <a:sym typeface="Calibri"/>
              </a:rPr>
              <a:t>FluxGen Industries Ltd. | Airdrie, Alberta</a:t>
            </a:r>
            <a:endParaRPr b="0" i="0" sz="1400" u="none" cap="none" strike="noStrike">
              <a:solidFill>
                <a:srgbClr val="000000"/>
              </a:solidFill>
              <a:latin typeface="Arial"/>
              <a:ea typeface="Arial"/>
              <a:cs typeface="Arial"/>
              <a:sym typeface="Arial"/>
            </a:endParaRPr>
          </a:p>
        </p:txBody>
      </p:sp>
      <p:pic>
        <p:nvPicPr>
          <p:cNvPr id="59" name="Google Shape;59;p1" title="fluxgen-logo-full-header.png"/>
          <p:cNvPicPr preferRelativeResize="0"/>
          <p:nvPr/>
        </p:nvPicPr>
        <p:blipFill rotWithShape="1">
          <a:blip r:embed="rId3">
            <a:alphaModFix/>
          </a:blip>
          <a:srcRect b="0" l="0" r="0" t="0"/>
          <a:stretch/>
        </p:blipFill>
        <p:spPr>
          <a:xfrm>
            <a:off x="2644625" y="342738"/>
            <a:ext cx="3657600" cy="14287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 name="Shape 63"/>
        <p:cNvGrpSpPr/>
        <p:nvPr/>
      </p:nvGrpSpPr>
      <p:grpSpPr>
        <a:xfrm>
          <a:off x="0" y="0"/>
          <a:ext cx="0" cy="0"/>
          <a:chOff x="0" y="0"/>
          <a:chExt cx="0" cy="0"/>
        </a:xfrm>
      </p:grpSpPr>
      <p:sp>
        <p:nvSpPr>
          <p:cNvPr id="64" name="Google Shape;64;p2"/>
          <p:cNvSpPr txBox="1"/>
          <p:nvPr/>
        </p:nvSpPr>
        <p:spPr>
          <a:xfrm>
            <a:off x="457200" y="-12"/>
            <a:ext cx="8229600" cy="954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CA" sz="2800" u="none" cap="none" strike="noStrike">
                <a:solidFill>
                  <a:srgbClr val="B87333"/>
                </a:solidFill>
                <a:latin typeface="Calibri"/>
                <a:ea typeface="Calibri"/>
                <a:cs typeface="Calibri"/>
                <a:sym typeface="Calibri"/>
              </a:rPr>
              <a:t>CANADA'S SAW FLUX MARKET: 100% IMPORT DEPENDENT</a:t>
            </a:r>
            <a:endParaRPr b="0" i="0" sz="1400" u="none" cap="none" strike="noStrike">
              <a:solidFill>
                <a:srgbClr val="000000"/>
              </a:solidFill>
              <a:latin typeface="Arial"/>
              <a:ea typeface="Arial"/>
              <a:cs typeface="Arial"/>
              <a:sym typeface="Arial"/>
            </a:endParaRPr>
          </a:p>
        </p:txBody>
      </p:sp>
      <p:sp>
        <p:nvSpPr>
          <p:cNvPr id="65" name="Google Shape;65;p2"/>
          <p:cNvSpPr/>
          <p:nvPr/>
        </p:nvSpPr>
        <p:spPr>
          <a:xfrm>
            <a:off x="1828775" y="887700"/>
            <a:ext cx="5486400" cy="1169700"/>
          </a:xfrm>
          <a:prstGeom prst="roundRect">
            <a:avLst>
              <a:gd fmla="val 16667" name="adj"/>
            </a:avLst>
          </a:prstGeom>
          <a:noFill/>
          <a:ln cap="flat" cmpd="sng" w="25400">
            <a:solidFill>
              <a:srgbClr val="B87333"/>
            </a:solidFill>
            <a:prstDash val="solid"/>
            <a:round/>
            <a:headEnd len="sm" w="sm" type="none"/>
            <a:tailEnd len="sm" w="sm" type="none"/>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400"/>
              <a:buFont typeface="Arial"/>
              <a:buNone/>
            </a:pPr>
            <a:r>
              <a:rPr b="1" i="0" lang="en-CA" sz="4400" u="none" cap="none" strike="noStrike">
                <a:solidFill>
                  <a:srgbClr val="B87333"/>
                </a:solidFill>
                <a:latin typeface="Calibri"/>
                <a:ea typeface="Calibri"/>
                <a:cs typeface="Calibri"/>
                <a:sym typeface="Calibri"/>
              </a:rPr>
              <a:t>$33 MILLION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CA" sz="1800" u="none" cap="none" strike="noStrike">
                <a:solidFill>
                  <a:srgbClr val="2C3E50"/>
                </a:solidFill>
                <a:latin typeface="Calibri"/>
                <a:ea typeface="Calibri"/>
                <a:cs typeface="Calibri"/>
                <a:sym typeface="Calibri"/>
              </a:rPr>
              <a:t>Annual SAW Flux Imports</a:t>
            </a:r>
            <a:endParaRPr b="0" i="0" sz="1400" u="none" cap="none" strike="noStrike">
              <a:solidFill>
                <a:srgbClr val="2C3E5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CA" sz="1600" u="none" cap="none" strike="noStrike">
                <a:solidFill>
                  <a:srgbClr val="2C3E50"/>
                </a:solidFill>
                <a:latin typeface="Calibri"/>
                <a:ea typeface="Calibri"/>
                <a:cs typeface="Calibri"/>
                <a:sym typeface="Calibri"/>
              </a:rPr>
              <a:t>11,000+ Tonnes Per Year</a:t>
            </a:r>
            <a:endParaRPr b="0" i="0" sz="1400" u="none" cap="none" strike="noStrike">
              <a:solidFill>
                <a:srgbClr val="2C3E50"/>
              </a:solidFill>
              <a:latin typeface="Arial"/>
              <a:ea typeface="Arial"/>
              <a:cs typeface="Arial"/>
              <a:sym typeface="Arial"/>
            </a:endParaRPr>
          </a:p>
        </p:txBody>
      </p:sp>
      <p:sp>
        <p:nvSpPr>
          <p:cNvPr id="66" name="Google Shape;66;p2"/>
          <p:cNvSpPr txBox="1"/>
          <p:nvPr/>
        </p:nvSpPr>
        <p:spPr>
          <a:xfrm>
            <a:off x="731525" y="2057400"/>
            <a:ext cx="7680900" cy="1703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CA" sz="1800" u="none" cap="none" strike="noStrike">
                <a:solidFill>
                  <a:srgbClr val="B87333"/>
                </a:solidFill>
                <a:latin typeface="Calibri"/>
                <a:ea typeface="Calibri"/>
                <a:cs typeface="Calibri"/>
                <a:sym typeface="Calibri"/>
              </a:rPr>
              <a:t>THE MARKET GAP: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400"/>
              <a:buFont typeface="Arial"/>
              <a:buNone/>
            </a:pPr>
            <a:r>
              <a:rPr b="0" i="0" lang="en-CA" sz="1400" u="none" cap="none" strike="noStrike">
                <a:solidFill>
                  <a:srgbClr val="2C3E50"/>
                </a:solidFill>
                <a:latin typeface="Calibri"/>
                <a:ea typeface="Calibri"/>
                <a:cs typeface="Calibri"/>
                <a:sym typeface="Calibri"/>
              </a:rPr>
              <a:t>• Zero domestic SAW flux manufacturers in Canada</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400"/>
              <a:buFont typeface="Arial"/>
              <a:buNone/>
            </a:pPr>
            <a:r>
              <a:rPr b="0" i="0" lang="en-CA" sz="1400" u="none" cap="none" strike="noStrike">
                <a:solidFill>
                  <a:srgbClr val="2C3E50"/>
                </a:solidFill>
                <a:latin typeface="Calibri"/>
                <a:ea typeface="Calibri"/>
                <a:cs typeface="Calibri"/>
                <a:sym typeface="Calibri"/>
              </a:rPr>
              <a:t>• 100% reliance on U.S., European, and Asian suppliers</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400"/>
              <a:buFont typeface="Arial"/>
              <a:buNone/>
            </a:pPr>
            <a:r>
              <a:rPr b="0" i="0" lang="en-CA" sz="1400" u="none" cap="none" strike="noStrike">
                <a:solidFill>
                  <a:srgbClr val="2C3E50"/>
                </a:solidFill>
                <a:latin typeface="Calibri"/>
                <a:ea typeface="Calibri"/>
                <a:cs typeface="Calibri"/>
                <a:sym typeface="Calibri"/>
              </a:rPr>
              <a:t>• Critical material for pipeline welding, shipbuilding, heavy equipment, and structural steel</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400"/>
              <a:buFont typeface="Arial"/>
              <a:buNone/>
            </a:pPr>
            <a:r>
              <a:rPr b="0" i="0" lang="en-CA" sz="1400" u="none" cap="none" strike="noStrike">
                <a:solidFill>
                  <a:srgbClr val="2C3E50"/>
                </a:solidFill>
                <a:latin typeface="Calibri"/>
                <a:ea typeface="Calibri"/>
                <a:cs typeface="Calibri"/>
                <a:sym typeface="Calibri"/>
              </a:rPr>
              <a:t>• Supply chain vulnerability — no Canadian backup source</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400"/>
              <a:buFont typeface="Arial"/>
              <a:buNone/>
            </a:pPr>
            <a:r>
              <a:rPr b="0" i="0" lang="en-CA" sz="1400" u="none" cap="none" strike="noStrike">
                <a:solidFill>
                  <a:srgbClr val="2C3E50"/>
                </a:solidFill>
                <a:latin typeface="Calibri"/>
                <a:ea typeface="Calibri"/>
                <a:cs typeface="Calibri"/>
                <a:sym typeface="Calibri"/>
              </a:rPr>
              <a:t>• Currency exchange risk and longer lead times</a:t>
            </a:r>
            <a:endParaRPr b="0" i="0" sz="1400" u="none" cap="none" strike="noStrike">
              <a:solidFill>
                <a:srgbClr val="2C3E50"/>
              </a:solidFill>
              <a:latin typeface="Arial"/>
              <a:ea typeface="Arial"/>
              <a:cs typeface="Arial"/>
              <a:sym typeface="Arial"/>
            </a:endParaRPr>
          </a:p>
        </p:txBody>
      </p:sp>
      <p:sp>
        <p:nvSpPr>
          <p:cNvPr id="67" name="Google Shape;67;p2"/>
          <p:cNvSpPr txBox="1"/>
          <p:nvPr/>
        </p:nvSpPr>
        <p:spPr>
          <a:xfrm>
            <a:off x="731525" y="3760806"/>
            <a:ext cx="7680900" cy="1169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CA" sz="1800" u="none" cap="none" strike="noStrike">
                <a:solidFill>
                  <a:srgbClr val="B87333"/>
                </a:solidFill>
                <a:latin typeface="Calibri"/>
                <a:ea typeface="Calibri"/>
                <a:cs typeface="Calibri"/>
                <a:sym typeface="Calibri"/>
              </a:rPr>
              <a:t>THE OPPORTUNITY: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400"/>
              <a:buFont typeface="Arial"/>
              <a:buNone/>
            </a:pPr>
            <a:r>
              <a:rPr b="0" i="0" lang="en-CA" sz="1400" u="none" cap="none" strike="noStrike">
                <a:solidFill>
                  <a:srgbClr val="2C3E50"/>
                </a:solidFill>
                <a:latin typeface="Calibri"/>
                <a:ea typeface="Calibri"/>
                <a:cs typeface="Calibri"/>
                <a:sym typeface="Calibri"/>
              </a:rPr>
              <a:t>Canada has the demand, the raw materials, and the skilled workforce.</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CA" sz="1400" u="none" cap="none" strike="noStrike">
                <a:solidFill>
                  <a:srgbClr val="2C3E50"/>
                </a:solidFill>
                <a:latin typeface="Calibri"/>
                <a:ea typeface="Calibri"/>
                <a:cs typeface="Calibri"/>
                <a:sym typeface="Calibri"/>
              </a:rPr>
              <a:t>What's missing? A domestic manufacturer.</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400"/>
              <a:buFont typeface="Arial"/>
              <a:buNone/>
            </a:pPr>
            <a:r>
              <a:rPr b="1" i="0" lang="en-CA" sz="1400" u="none" cap="none" strike="noStrike">
                <a:solidFill>
                  <a:srgbClr val="B87333"/>
                </a:solidFill>
                <a:latin typeface="Calibri"/>
                <a:ea typeface="Calibri"/>
                <a:cs typeface="Calibri"/>
                <a:sym typeface="Calibri"/>
              </a:rPr>
              <a:t>FluxGen is ready to fill that gap — and build it in Airdrie.</a:t>
            </a:r>
            <a:endParaRPr b="0" i="0" sz="1400" u="none" cap="none" strike="noStrike">
              <a:solidFill>
                <a:srgbClr val="000000"/>
              </a:solidFill>
              <a:latin typeface="Arial"/>
              <a:ea typeface="Arial"/>
              <a:cs typeface="Arial"/>
              <a:sym typeface="Arial"/>
            </a:endParaRPr>
          </a:p>
        </p:txBody>
      </p:sp>
      <p:pic>
        <p:nvPicPr>
          <p:cNvPr descr="fluxgen-logo-monogram.png" id="68" name="Google Shape;68;p2"/>
          <p:cNvPicPr preferRelativeResize="0"/>
          <p:nvPr/>
        </p:nvPicPr>
        <p:blipFill rotWithShape="1">
          <a:blip r:embed="rId3">
            <a:alphaModFix/>
          </a:blip>
          <a:srcRect b="0" l="0" r="0" t="0"/>
          <a:stretch/>
        </p:blipFill>
        <p:spPr>
          <a:xfrm>
            <a:off x="8412480" y="4800600"/>
            <a:ext cx="274320" cy="27432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2" name="Shape 72"/>
        <p:cNvGrpSpPr/>
        <p:nvPr/>
      </p:nvGrpSpPr>
      <p:grpSpPr>
        <a:xfrm>
          <a:off x="0" y="0"/>
          <a:ext cx="0" cy="0"/>
          <a:chOff x="0" y="0"/>
          <a:chExt cx="0" cy="0"/>
        </a:xfrm>
      </p:grpSpPr>
      <p:sp>
        <p:nvSpPr>
          <p:cNvPr id="73" name="Google Shape;73;p3"/>
          <p:cNvSpPr txBox="1"/>
          <p:nvPr/>
        </p:nvSpPr>
        <p:spPr>
          <a:xfrm>
            <a:off x="548650" y="89652"/>
            <a:ext cx="82296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n-CA" sz="3200" u="none" cap="none" strike="noStrike">
                <a:solidFill>
                  <a:srgbClr val="B87333"/>
                </a:solidFill>
                <a:latin typeface="Calibri"/>
                <a:ea typeface="Calibri"/>
                <a:cs typeface="Calibri"/>
                <a:sym typeface="Calibri"/>
              </a:rPr>
              <a:t>FLUXGEN INDUSTRIES LTD.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CA" sz="1600" u="none" cap="none" strike="noStrike">
                <a:solidFill>
                  <a:srgbClr val="2C3E50"/>
                </a:solidFill>
                <a:latin typeface="Calibri"/>
                <a:ea typeface="Calibri"/>
                <a:cs typeface="Calibri"/>
                <a:sym typeface="Calibri"/>
              </a:rPr>
              <a:t>Canada's First SAW Flux &amp; Alloy Manufacturer | Airdrie, Alberta</a:t>
            </a:r>
            <a:endParaRPr b="0" i="0" sz="1400" u="none" cap="none" strike="noStrike">
              <a:solidFill>
                <a:srgbClr val="2C3E50"/>
              </a:solidFill>
              <a:latin typeface="Arial"/>
              <a:ea typeface="Arial"/>
              <a:cs typeface="Arial"/>
              <a:sym typeface="Arial"/>
            </a:endParaRPr>
          </a:p>
        </p:txBody>
      </p:sp>
      <p:sp>
        <p:nvSpPr>
          <p:cNvPr id="74" name="Google Shape;74;p3"/>
          <p:cNvSpPr/>
          <p:nvPr/>
        </p:nvSpPr>
        <p:spPr>
          <a:xfrm>
            <a:off x="640080" y="1062990"/>
            <a:ext cx="2377500" cy="1234500"/>
          </a:xfrm>
          <a:prstGeom prst="roundRect">
            <a:avLst>
              <a:gd fmla="val 16667" name="adj"/>
            </a:avLst>
          </a:prstGeom>
          <a:noFill/>
          <a:ln cap="flat" cmpd="sng" w="25400">
            <a:solidFill>
              <a:srgbClr val="B87333"/>
            </a:solidFill>
            <a:prstDash val="solid"/>
            <a:round/>
            <a:headEnd len="sm" w="sm" type="none"/>
            <a:tailEnd len="sm" w="sm" type="none"/>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CA" sz="1400" u="none" cap="none" strike="noStrike">
                <a:solidFill>
                  <a:srgbClr val="B87333"/>
                </a:solidFill>
                <a:latin typeface="Calibri"/>
                <a:ea typeface="Calibri"/>
                <a:cs typeface="Calibri"/>
                <a:sym typeface="Calibri"/>
              </a:rPr>
              <a:t>PROVEN TECHNOLOGY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100"/>
              <a:buFont typeface="Arial"/>
              <a:buNone/>
            </a:pPr>
            <a:r>
              <a:rPr b="0" i="0" lang="en-CA" sz="1100" u="none" cap="none" strike="noStrike">
                <a:solidFill>
                  <a:srgbClr val="2C3E50"/>
                </a:solidFill>
                <a:latin typeface="Calibri"/>
                <a:ea typeface="Calibri"/>
                <a:cs typeface="Calibri"/>
                <a:sym typeface="Calibri"/>
              </a:rPr>
              <a:t>• Production-ready formulations</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100"/>
              <a:buFont typeface="Arial"/>
              <a:buNone/>
            </a:pPr>
            <a:r>
              <a:rPr b="0" i="0" lang="en-CA" sz="1100" u="none" cap="none" strike="noStrike">
                <a:solidFill>
                  <a:srgbClr val="2C3E50"/>
                </a:solidFill>
                <a:latin typeface="Calibri"/>
                <a:ea typeface="Calibri"/>
                <a:cs typeface="Calibri"/>
                <a:sym typeface="Calibri"/>
              </a:rPr>
              <a:t>• 40+ years family expertise</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100"/>
              <a:buFont typeface="Arial"/>
              <a:buNone/>
            </a:pPr>
            <a:r>
              <a:rPr b="0" i="0" lang="en-CA" sz="1100" u="none" cap="none" strike="noStrike">
                <a:solidFill>
                  <a:srgbClr val="2C3E50"/>
                </a:solidFill>
                <a:latin typeface="Calibri"/>
                <a:ea typeface="Calibri"/>
                <a:cs typeface="Calibri"/>
                <a:sym typeface="Calibri"/>
              </a:rPr>
              <a:t>• NOT R&amp;D — proven IP transfer</a:t>
            </a:r>
            <a:endParaRPr b="0" i="0" sz="1400" u="none" cap="none" strike="noStrike">
              <a:solidFill>
                <a:srgbClr val="2C3E50"/>
              </a:solidFill>
              <a:latin typeface="Arial"/>
              <a:ea typeface="Arial"/>
              <a:cs typeface="Arial"/>
              <a:sym typeface="Arial"/>
            </a:endParaRPr>
          </a:p>
        </p:txBody>
      </p:sp>
      <p:sp>
        <p:nvSpPr>
          <p:cNvPr id="75" name="Google Shape;75;p3"/>
          <p:cNvSpPr/>
          <p:nvPr/>
        </p:nvSpPr>
        <p:spPr>
          <a:xfrm>
            <a:off x="3383305" y="1062990"/>
            <a:ext cx="2377500" cy="1234500"/>
          </a:xfrm>
          <a:prstGeom prst="roundRect">
            <a:avLst>
              <a:gd fmla="val 16667" name="adj"/>
            </a:avLst>
          </a:prstGeom>
          <a:noFill/>
          <a:ln cap="flat" cmpd="sng" w="25400">
            <a:solidFill>
              <a:srgbClr val="B87333"/>
            </a:solidFill>
            <a:prstDash val="solid"/>
            <a:round/>
            <a:headEnd len="sm" w="sm" type="none"/>
            <a:tailEnd len="sm" w="sm" type="none"/>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CA" sz="1400" u="none" cap="none" strike="noStrike">
                <a:solidFill>
                  <a:srgbClr val="B87333"/>
                </a:solidFill>
                <a:latin typeface="Calibri"/>
                <a:ea typeface="Calibri"/>
                <a:cs typeface="Calibri"/>
                <a:sym typeface="Calibri"/>
              </a:rPr>
              <a:t>MARKET READY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100"/>
              <a:buFont typeface="Arial"/>
              <a:buNone/>
            </a:pPr>
            <a:r>
              <a:rPr b="0" i="0" lang="en-CA" sz="1100" u="none" cap="none" strike="noStrike">
                <a:solidFill>
                  <a:srgbClr val="2C3E50"/>
                </a:solidFill>
                <a:latin typeface="Calibri"/>
                <a:ea typeface="Calibri"/>
                <a:cs typeface="Calibri"/>
                <a:sym typeface="Calibri"/>
              </a:rPr>
              <a:t>• Immediate demand: 11,000 tonnes/year</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100"/>
              <a:buFont typeface="Arial"/>
              <a:buNone/>
            </a:pPr>
            <a:r>
              <a:rPr b="0" i="0" lang="en-CA" sz="1100" u="none" cap="none" strike="noStrike">
                <a:solidFill>
                  <a:srgbClr val="2C3E50"/>
                </a:solidFill>
                <a:latin typeface="Calibri"/>
                <a:ea typeface="Calibri"/>
                <a:cs typeface="Calibri"/>
                <a:sym typeface="Calibri"/>
              </a:rPr>
              <a:t>• Zero domestic competition</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100"/>
              <a:buFont typeface="Arial"/>
              <a:buNone/>
            </a:pPr>
            <a:r>
              <a:rPr b="0" i="0" lang="en-CA" sz="1100" u="none" cap="none" strike="noStrike">
                <a:solidFill>
                  <a:srgbClr val="2C3E50"/>
                </a:solidFill>
                <a:latin typeface="Calibri"/>
                <a:ea typeface="Calibri"/>
                <a:cs typeface="Calibri"/>
                <a:sym typeface="Calibri"/>
              </a:rPr>
              <a:t>• Pipeline welding = core Alberta market</a:t>
            </a:r>
            <a:endParaRPr b="0" i="0" sz="1400" u="none" cap="none" strike="noStrike">
              <a:solidFill>
                <a:srgbClr val="2C3E50"/>
              </a:solidFill>
              <a:latin typeface="Arial"/>
              <a:ea typeface="Arial"/>
              <a:cs typeface="Arial"/>
              <a:sym typeface="Arial"/>
            </a:endParaRPr>
          </a:p>
        </p:txBody>
      </p:sp>
      <p:sp>
        <p:nvSpPr>
          <p:cNvPr id="76" name="Google Shape;76;p3"/>
          <p:cNvSpPr/>
          <p:nvPr/>
        </p:nvSpPr>
        <p:spPr>
          <a:xfrm>
            <a:off x="6126530" y="1062990"/>
            <a:ext cx="2377500" cy="1234500"/>
          </a:xfrm>
          <a:prstGeom prst="roundRect">
            <a:avLst>
              <a:gd fmla="val 16667" name="adj"/>
            </a:avLst>
          </a:prstGeom>
          <a:noFill/>
          <a:ln cap="flat" cmpd="sng" w="25400">
            <a:solidFill>
              <a:srgbClr val="B87333"/>
            </a:solidFill>
            <a:prstDash val="solid"/>
            <a:round/>
            <a:headEnd len="sm" w="sm" type="none"/>
            <a:tailEnd len="sm" w="sm" type="none"/>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CA" sz="1400" u="none" cap="none" strike="noStrike">
                <a:solidFill>
                  <a:srgbClr val="B87333"/>
                </a:solidFill>
                <a:latin typeface="Calibri"/>
                <a:ea typeface="Calibri"/>
                <a:cs typeface="Calibri"/>
                <a:sym typeface="Calibri"/>
              </a:rPr>
              <a:t>EXPORT POTENTIAL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100"/>
              <a:buFont typeface="Arial"/>
              <a:buNone/>
            </a:pPr>
            <a:r>
              <a:rPr b="0" i="0" lang="en-CA" sz="1100" u="none" cap="none" strike="noStrike">
                <a:solidFill>
                  <a:srgbClr val="2C3E50"/>
                </a:solidFill>
                <a:latin typeface="Calibri"/>
                <a:ea typeface="Calibri"/>
                <a:cs typeface="Calibri"/>
                <a:sym typeface="Calibri"/>
              </a:rPr>
              <a:t>• ArcNova Materials (export subsidiary)</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100"/>
              <a:buFont typeface="Arial"/>
              <a:buNone/>
            </a:pPr>
            <a:r>
              <a:rPr b="0" i="0" lang="en-CA" sz="1100" u="none" cap="none" strike="noStrike">
                <a:solidFill>
                  <a:srgbClr val="2C3E50"/>
                </a:solidFill>
                <a:latin typeface="Calibri"/>
                <a:ea typeface="Calibri"/>
                <a:cs typeface="Calibri"/>
                <a:sym typeface="Calibri"/>
              </a:rPr>
              <a:t>• Target: U.S. &amp; India markets</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100"/>
              <a:buFont typeface="Arial"/>
              <a:buNone/>
            </a:pPr>
            <a:r>
              <a:rPr b="0" i="0" lang="en-CA" sz="1100" u="none" cap="none" strike="noStrike">
                <a:solidFill>
                  <a:srgbClr val="2C3E50"/>
                </a:solidFill>
                <a:latin typeface="Calibri"/>
                <a:ea typeface="Calibri"/>
                <a:cs typeface="Calibri"/>
                <a:sym typeface="Calibri"/>
              </a:rPr>
              <a:t>• Bring foreign revenue INTO Alberta</a:t>
            </a:r>
            <a:endParaRPr b="0" i="0" sz="1400" u="none" cap="none" strike="noStrike">
              <a:solidFill>
                <a:srgbClr val="2C3E50"/>
              </a:solidFill>
              <a:latin typeface="Arial"/>
              <a:ea typeface="Arial"/>
              <a:cs typeface="Arial"/>
              <a:sym typeface="Arial"/>
            </a:endParaRPr>
          </a:p>
        </p:txBody>
      </p:sp>
      <p:sp>
        <p:nvSpPr>
          <p:cNvPr id="77" name="Google Shape;77;p3"/>
          <p:cNvSpPr txBox="1"/>
          <p:nvPr/>
        </p:nvSpPr>
        <p:spPr>
          <a:xfrm>
            <a:off x="640050" y="2449689"/>
            <a:ext cx="78639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CA" sz="1600" u="none" cap="none" strike="noStrike">
                <a:solidFill>
                  <a:srgbClr val="B87333"/>
                </a:solidFill>
                <a:latin typeface="Calibri"/>
                <a:ea typeface="Calibri"/>
                <a:cs typeface="Calibri"/>
                <a:sym typeface="Calibri"/>
              </a:rPr>
              <a:t>PHASED GROWTH STRATEGY: De-Risked, Milestone-Based Expansion</a:t>
            </a:r>
            <a:endParaRPr b="0" i="0" sz="1400" u="none" cap="none" strike="noStrike">
              <a:solidFill>
                <a:srgbClr val="000000"/>
              </a:solidFill>
              <a:latin typeface="Arial"/>
              <a:ea typeface="Arial"/>
              <a:cs typeface="Arial"/>
              <a:sym typeface="Arial"/>
            </a:endParaRPr>
          </a:p>
        </p:txBody>
      </p:sp>
      <p:sp>
        <p:nvSpPr>
          <p:cNvPr id="78" name="Google Shape;78;p3"/>
          <p:cNvSpPr/>
          <p:nvPr/>
        </p:nvSpPr>
        <p:spPr>
          <a:xfrm>
            <a:off x="640075" y="2940575"/>
            <a:ext cx="2377500" cy="1508700"/>
          </a:xfrm>
          <a:prstGeom prst="roundRect">
            <a:avLst>
              <a:gd fmla="val 16667" name="adj"/>
            </a:avLst>
          </a:prstGeom>
          <a:noFill/>
          <a:ln cap="flat" cmpd="sng" w="25400">
            <a:solidFill>
              <a:srgbClr val="B87333"/>
            </a:solidFill>
            <a:prstDash val="solid"/>
            <a:round/>
            <a:headEnd len="sm" w="sm" type="none"/>
            <a:tailEnd len="sm" w="sm" type="none"/>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CA" sz="1400" u="none" cap="none" strike="noStrike">
                <a:solidFill>
                  <a:srgbClr val="B87333"/>
                </a:solidFill>
                <a:latin typeface="Calibri"/>
                <a:ea typeface="Calibri"/>
                <a:cs typeface="Calibri"/>
                <a:sym typeface="Calibri"/>
              </a:rPr>
              <a:t>YEAR 1-2</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200"/>
              </a:spcBef>
              <a:spcAft>
                <a:spcPts val="0"/>
              </a:spcAft>
              <a:buClr>
                <a:srgbClr val="000000"/>
              </a:buClr>
              <a:buSzPts val="1200"/>
              <a:buFont typeface="Arial"/>
              <a:buNone/>
            </a:pPr>
            <a:r>
              <a:rPr b="1" i="0" lang="en-CA" sz="1200" u="none" cap="none" strike="noStrike">
                <a:solidFill>
                  <a:srgbClr val="2C3E50"/>
                </a:solidFill>
                <a:latin typeface="Calibri"/>
                <a:ea typeface="Calibri"/>
                <a:cs typeface="Calibri"/>
                <a:sym typeface="Calibri"/>
              </a:rPr>
              <a:t>Pilot Production</a:t>
            </a:r>
            <a:endParaRPr b="0" i="0" sz="1400" u="none" cap="none" strike="noStrike">
              <a:solidFill>
                <a:srgbClr val="2C3E50"/>
              </a:solidFill>
              <a:latin typeface="Arial"/>
              <a:ea typeface="Arial"/>
              <a:cs typeface="Arial"/>
              <a:sym typeface="Arial"/>
            </a:endParaRPr>
          </a:p>
          <a:p>
            <a:pPr indent="0" lvl="0" marL="0" marR="0" rtl="0" algn="ctr">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800 tonnes/year</a:t>
            </a:r>
            <a:endParaRPr b="0" i="0" sz="1400" u="none" cap="none" strike="noStrike">
              <a:solidFill>
                <a:srgbClr val="2C3E50"/>
              </a:solidFill>
              <a:latin typeface="Arial"/>
              <a:ea typeface="Arial"/>
              <a:cs typeface="Arial"/>
              <a:sym typeface="Arial"/>
            </a:endParaRPr>
          </a:p>
          <a:p>
            <a:pPr indent="0" lvl="0" marL="0" marR="0" rtl="0" algn="ctr">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$2.5M revenue</a:t>
            </a:r>
            <a:endParaRPr b="0" i="0" sz="1400" u="none" cap="none" strike="noStrike">
              <a:solidFill>
                <a:srgbClr val="2C3E50"/>
              </a:solidFill>
              <a:latin typeface="Arial"/>
              <a:ea typeface="Arial"/>
              <a:cs typeface="Arial"/>
              <a:sym typeface="Arial"/>
            </a:endParaRPr>
          </a:p>
          <a:p>
            <a:pPr indent="0" lvl="0" marL="0" marR="0" rtl="0" algn="ctr">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10 jobs created</a:t>
            </a:r>
            <a:endParaRPr b="0" i="0" sz="1400" u="none" cap="none" strike="noStrike">
              <a:solidFill>
                <a:srgbClr val="2C3E50"/>
              </a:solidFill>
              <a:latin typeface="Arial"/>
              <a:ea typeface="Arial"/>
              <a:cs typeface="Arial"/>
              <a:sym typeface="Arial"/>
            </a:endParaRPr>
          </a:p>
          <a:p>
            <a:pPr indent="0" lvl="0" marL="0" marR="0" rtl="0" algn="ctr">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Canadian market focus</a:t>
            </a:r>
            <a:endParaRPr b="0" i="0" sz="1400" u="none" cap="none" strike="noStrike">
              <a:solidFill>
                <a:srgbClr val="2C3E50"/>
              </a:solidFill>
              <a:latin typeface="Arial"/>
              <a:ea typeface="Arial"/>
              <a:cs typeface="Arial"/>
              <a:sym typeface="Arial"/>
            </a:endParaRPr>
          </a:p>
        </p:txBody>
      </p:sp>
      <p:sp>
        <p:nvSpPr>
          <p:cNvPr id="79" name="Google Shape;79;p3"/>
          <p:cNvSpPr/>
          <p:nvPr/>
        </p:nvSpPr>
        <p:spPr>
          <a:xfrm>
            <a:off x="3520462" y="2940575"/>
            <a:ext cx="2286000" cy="1508700"/>
          </a:xfrm>
          <a:prstGeom prst="roundRect">
            <a:avLst>
              <a:gd fmla="val 16667" name="adj"/>
            </a:avLst>
          </a:prstGeom>
          <a:noFill/>
          <a:ln cap="flat" cmpd="sng" w="25400">
            <a:solidFill>
              <a:srgbClr val="B87333"/>
            </a:solidFill>
            <a:prstDash val="solid"/>
            <a:round/>
            <a:headEnd len="sm" w="sm" type="none"/>
            <a:tailEnd len="sm" w="sm" type="none"/>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CA" sz="1400" u="none" cap="none" strike="noStrike">
                <a:solidFill>
                  <a:srgbClr val="B87333"/>
                </a:solidFill>
                <a:latin typeface="Calibri"/>
                <a:ea typeface="Calibri"/>
                <a:cs typeface="Calibri"/>
                <a:sym typeface="Calibri"/>
              </a:rPr>
              <a:t>YEAR 3-4</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200"/>
              </a:spcBef>
              <a:spcAft>
                <a:spcPts val="0"/>
              </a:spcAft>
              <a:buClr>
                <a:srgbClr val="000000"/>
              </a:buClr>
              <a:buSzPts val="1200"/>
              <a:buFont typeface="Arial"/>
              <a:buNone/>
            </a:pPr>
            <a:r>
              <a:rPr b="1" i="0" lang="en-CA" sz="1200" u="none" cap="none" strike="noStrike">
                <a:solidFill>
                  <a:srgbClr val="2C3E50"/>
                </a:solidFill>
                <a:latin typeface="Calibri"/>
                <a:ea typeface="Calibri"/>
                <a:cs typeface="Calibri"/>
                <a:sym typeface="Calibri"/>
              </a:rPr>
              <a:t>Scale Production</a:t>
            </a:r>
            <a:endParaRPr b="0" i="0" sz="1400" u="none" cap="none" strike="noStrike">
              <a:solidFill>
                <a:srgbClr val="2C3E50"/>
              </a:solidFill>
              <a:latin typeface="Arial"/>
              <a:ea typeface="Arial"/>
              <a:cs typeface="Arial"/>
              <a:sym typeface="Arial"/>
            </a:endParaRPr>
          </a:p>
          <a:p>
            <a:pPr indent="0" lvl="0" marL="0" marR="0" rtl="0" algn="ctr">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3,000 tonnes/year</a:t>
            </a:r>
            <a:endParaRPr b="0" i="0" sz="1400" u="none" cap="none" strike="noStrike">
              <a:solidFill>
                <a:srgbClr val="2C3E50"/>
              </a:solidFill>
              <a:latin typeface="Arial"/>
              <a:ea typeface="Arial"/>
              <a:cs typeface="Arial"/>
              <a:sym typeface="Arial"/>
            </a:endParaRPr>
          </a:p>
          <a:p>
            <a:pPr indent="0" lvl="0" marL="0" marR="0" rtl="0" algn="ctr">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$12M revenue</a:t>
            </a:r>
            <a:endParaRPr b="0" i="0" sz="1400" u="none" cap="none" strike="noStrike">
              <a:solidFill>
                <a:srgbClr val="2C3E50"/>
              </a:solidFill>
              <a:latin typeface="Arial"/>
              <a:ea typeface="Arial"/>
              <a:cs typeface="Arial"/>
              <a:sym typeface="Arial"/>
            </a:endParaRPr>
          </a:p>
          <a:p>
            <a:pPr indent="0" lvl="0" marL="0" marR="0" rtl="0" algn="ctr">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Employment growth 120%</a:t>
            </a:r>
            <a:endParaRPr b="0" i="0" sz="1400" u="none" cap="none" strike="noStrike">
              <a:solidFill>
                <a:srgbClr val="2C3E50"/>
              </a:solidFill>
              <a:latin typeface="Arial"/>
              <a:ea typeface="Arial"/>
              <a:cs typeface="Arial"/>
              <a:sym typeface="Arial"/>
            </a:endParaRPr>
          </a:p>
          <a:p>
            <a:pPr indent="0" lvl="0" marL="0" marR="0" rtl="0" algn="ctr">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Expand market share</a:t>
            </a:r>
            <a:endParaRPr b="0" i="0" sz="1400" u="none" cap="none" strike="noStrike">
              <a:solidFill>
                <a:srgbClr val="2C3E50"/>
              </a:solidFill>
              <a:latin typeface="Arial"/>
              <a:ea typeface="Arial"/>
              <a:cs typeface="Arial"/>
              <a:sym typeface="Arial"/>
            </a:endParaRPr>
          </a:p>
        </p:txBody>
      </p:sp>
      <p:sp>
        <p:nvSpPr>
          <p:cNvPr id="80" name="Google Shape;80;p3"/>
          <p:cNvSpPr/>
          <p:nvPr/>
        </p:nvSpPr>
        <p:spPr>
          <a:xfrm>
            <a:off x="6309327" y="2940575"/>
            <a:ext cx="2194500" cy="1508700"/>
          </a:xfrm>
          <a:prstGeom prst="roundRect">
            <a:avLst>
              <a:gd fmla="val 16667" name="adj"/>
            </a:avLst>
          </a:prstGeom>
          <a:noFill/>
          <a:ln cap="flat" cmpd="sng" w="25400">
            <a:solidFill>
              <a:srgbClr val="B87333"/>
            </a:solidFill>
            <a:prstDash val="solid"/>
            <a:round/>
            <a:headEnd len="sm" w="sm" type="none"/>
            <a:tailEnd len="sm" w="sm" type="none"/>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CA" sz="1400" u="none" cap="none" strike="noStrike">
                <a:solidFill>
                  <a:srgbClr val="B87333"/>
                </a:solidFill>
                <a:latin typeface="Calibri"/>
                <a:ea typeface="Calibri"/>
                <a:cs typeface="Calibri"/>
                <a:sym typeface="Calibri"/>
              </a:rPr>
              <a:t>YEAR 5-7</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200"/>
              </a:spcBef>
              <a:spcAft>
                <a:spcPts val="0"/>
              </a:spcAft>
              <a:buClr>
                <a:srgbClr val="000000"/>
              </a:buClr>
              <a:buSzPts val="1200"/>
              <a:buFont typeface="Arial"/>
              <a:buNone/>
            </a:pPr>
            <a:r>
              <a:rPr b="1" i="0" lang="en-CA" sz="1200" u="none" cap="none" strike="noStrike">
                <a:solidFill>
                  <a:srgbClr val="2C3E50"/>
                </a:solidFill>
                <a:latin typeface="Calibri"/>
                <a:ea typeface="Calibri"/>
                <a:cs typeface="Calibri"/>
                <a:sym typeface="Calibri"/>
              </a:rPr>
              <a:t>Full Capacity + Exports</a:t>
            </a:r>
            <a:endParaRPr b="0" i="0" sz="1400" u="none" cap="none" strike="noStrike">
              <a:solidFill>
                <a:srgbClr val="2C3E50"/>
              </a:solidFill>
              <a:latin typeface="Arial"/>
              <a:ea typeface="Arial"/>
              <a:cs typeface="Arial"/>
              <a:sym typeface="Arial"/>
            </a:endParaRPr>
          </a:p>
          <a:p>
            <a:pPr indent="0" lvl="0" marL="0" marR="0" rtl="0" algn="ctr">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6,000 tonnes/year</a:t>
            </a:r>
            <a:endParaRPr b="0" i="0" sz="1400" u="none" cap="none" strike="noStrike">
              <a:solidFill>
                <a:srgbClr val="2C3E50"/>
              </a:solidFill>
              <a:latin typeface="Arial"/>
              <a:ea typeface="Arial"/>
              <a:cs typeface="Arial"/>
              <a:sym typeface="Arial"/>
            </a:endParaRPr>
          </a:p>
          <a:p>
            <a:pPr indent="0" lvl="0" marL="0" marR="0" rtl="0" algn="ctr">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$30M revenue</a:t>
            </a:r>
            <a:endParaRPr b="0" i="0" sz="1400" u="none" cap="none" strike="noStrike">
              <a:solidFill>
                <a:srgbClr val="2C3E50"/>
              </a:solidFill>
              <a:latin typeface="Arial"/>
              <a:ea typeface="Arial"/>
              <a:cs typeface="Arial"/>
              <a:sym typeface="Arial"/>
            </a:endParaRPr>
          </a:p>
          <a:p>
            <a:pPr indent="0" lvl="0" marL="0" marR="0" rtl="0" algn="ctr">
              <a:lnSpc>
                <a:spcPct val="100000"/>
              </a:lnSpc>
              <a:spcBef>
                <a:spcPts val="400"/>
              </a:spcBef>
              <a:spcAft>
                <a:spcPts val="0"/>
              </a:spcAft>
              <a:buClr>
                <a:schemeClr val="dk1"/>
              </a:buClr>
              <a:buSzPts val="1000"/>
              <a:buFont typeface="Arial"/>
              <a:buNone/>
            </a:pPr>
            <a:r>
              <a:rPr b="0" i="0" lang="en-CA" sz="1000" u="none" cap="none" strike="noStrike">
                <a:solidFill>
                  <a:srgbClr val="2C3E50"/>
                </a:solidFill>
                <a:latin typeface="Calibri"/>
                <a:ea typeface="Calibri"/>
                <a:cs typeface="Calibri"/>
                <a:sym typeface="Calibri"/>
              </a:rPr>
              <a:t>Employment growth 300%</a:t>
            </a:r>
            <a:endParaRPr b="0" i="0" sz="1400" u="none" cap="none" strike="noStrike">
              <a:solidFill>
                <a:srgbClr val="2C3E50"/>
              </a:solidFill>
              <a:latin typeface="Arial"/>
              <a:ea typeface="Arial"/>
              <a:cs typeface="Arial"/>
              <a:sym typeface="Arial"/>
            </a:endParaRPr>
          </a:p>
          <a:p>
            <a:pPr indent="0" lvl="0" marL="0" marR="0" rtl="0" algn="ctr">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Export + wire manufacturing</a:t>
            </a:r>
            <a:endParaRPr b="0" i="0" sz="1400" u="none" cap="none" strike="noStrike">
              <a:solidFill>
                <a:srgbClr val="2C3E50"/>
              </a:solidFill>
              <a:latin typeface="Arial"/>
              <a:ea typeface="Arial"/>
              <a:cs typeface="Arial"/>
              <a:sym typeface="Arial"/>
            </a:endParaRPr>
          </a:p>
        </p:txBody>
      </p:sp>
      <p:pic>
        <p:nvPicPr>
          <p:cNvPr descr="fluxgen-logo-monogram.png" id="81" name="Google Shape;81;p3"/>
          <p:cNvPicPr preferRelativeResize="0"/>
          <p:nvPr/>
        </p:nvPicPr>
        <p:blipFill rotWithShape="1">
          <a:blip r:embed="rId3">
            <a:alphaModFix/>
          </a:blip>
          <a:srcRect b="0" l="0" r="0" t="0"/>
          <a:stretch/>
        </p:blipFill>
        <p:spPr>
          <a:xfrm>
            <a:off x="8412480" y="4800600"/>
            <a:ext cx="274320" cy="27432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 name="Shape 85"/>
        <p:cNvGrpSpPr/>
        <p:nvPr/>
      </p:nvGrpSpPr>
      <p:grpSpPr>
        <a:xfrm>
          <a:off x="0" y="0"/>
          <a:ext cx="0" cy="0"/>
          <a:chOff x="0" y="0"/>
          <a:chExt cx="0" cy="0"/>
        </a:xfrm>
      </p:grpSpPr>
      <p:sp>
        <p:nvSpPr>
          <p:cNvPr id="86" name="Google Shape;86;p4"/>
          <p:cNvSpPr txBox="1"/>
          <p:nvPr/>
        </p:nvSpPr>
        <p:spPr>
          <a:xfrm>
            <a:off x="457200" y="205740"/>
            <a:ext cx="8229600" cy="342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Arial"/>
              <a:buNone/>
            </a:pPr>
            <a:r>
              <a:rPr b="1" i="0" lang="en-CA" sz="2200" u="none" cap="none" strike="noStrike">
                <a:solidFill>
                  <a:srgbClr val="B87333"/>
                </a:solidFill>
                <a:latin typeface="Calibri"/>
                <a:ea typeface="Calibri"/>
                <a:cs typeface="Calibri"/>
                <a:sym typeface="Calibri"/>
              </a:rPr>
              <a:t>PARTNERSHIP REQUEST: WHAT WE NEED FROM THE CITY OF AIRDRIE</a:t>
            </a:r>
            <a:endParaRPr b="0" i="0" sz="1400" u="none" cap="none" strike="noStrike">
              <a:solidFill>
                <a:srgbClr val="000000"/>
              </a:solidFill>
              <a:latin typeface="Arial"/>
              <a:ea typeface="Arial"/>
              <a:cs typeface="Arial"/>
              <a:sym typeface="Arial"/>
            </a:endParaRPr>
          </a:p>
        </p:txBody>
      </p:sp>
      <p:sp>
        <p:nvSpPr>
          <p:cNvPr id="87" name="Google Shape;87;p4"/>
          <p:cNvSpPr txBox="1"/>
          <p:nvPr/>
        </p:nvSpPr>
        <p:spPr>
          <a:xfrm>
            <a:off x="640075" y="754374"/>
            <a:ext cx="7863900" cy="75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CA" sz="1600" u="none" cap="none" strike="noStrike">
                <a:solidFill>
                  <a:srgbClr val="B87333"/>
                </a:solidFill>
                <a:latin typeface="Calibri"/>
                <a:ea typeface="Calibri"/>
                <a:cs typeface="Calibri"/>
                <a:sym typeface="Calibri"/>
              </a:rPr>
              <a:t>✓  INDUSTRIAL LAND: 10-15 ACRES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200"/>
              <a:buFont typeface="Arial"/>
              <a:buNone/>
            </a:pPr>
            <a:r>
              <a:rPr b="0" i="0" lang="en-CA" sz="1200" u="none" cap="none" strike="noStrike">
                <a:solidFill>
                  <a:srgbClr val="C0C0C0"/>
                </a:solidFill>
                <a:latin typeface="Calibri"/>
                <a:ea typeface="Calibri"/>
                <a:cs typeface="Calibri"/>
                <a:sym typeface="Calibri"/>
              </a:rPr>
              <a:t>  </a:t>
            </a:r>
            <a:r>
              <a:rPr b="0" i="0" lang="en-CA" sz="1200" u="none" cap="none" strike="noStrike">
                <a:solidFill>
                  <a:srgbClr val="2C3E50"/>
                </a:solidFill>
                <a:latin typeface="Calibri"/>
                <a:ea typeface="Calibri"/>
                <a:cs typeface="Calibri"/>
                <a:sym typeface="Calibri"/>
              </a:rPr>
              <a:t>Option A: Free land grant (community investment model)</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200"/>
              <a:buFont typeface="Arial"/>
              <a:buNone/>
            </a:pPr>
            <a:r>
              <a:rPr b="0" i="0" lang="en-CA" sz="1200" u="none" cap="none" strike="noStrike">
                <a:solidFill>
                  <a:srgbClr val="2C3E50"/>
                </a:solidFill>
                <a:latin typeface="Calibri"/>
                <a:ea typeface="Calibri"/>
                <a:cs typeface="Calibri"/>
                <a:sym typeface="Calibri"/>
              </a:rPr>
              <a:t>  Option B: Subsidized long-term lease</a:t>
            </a:r>
            <a:endParaRPr b="0" i="0" sz="1400" u="none" cap="none" strike="noStrike">
              <a:solidFill>
                <a:srgbClr val="2C3E50"/>
              </a:solidFill>
              <a:latin typeface="Arial"/>
              <a:ea typeface="Arial"/>
              <a:cs typeface="Arial"/>
              <a:sym typeface="Arial"/>
            </a:endParaRPr>
          </a:p>
        </p:txBody>
      </p:sp>
      <p:sp>
        <p:nvSpPr>
          <p:cNvPr id="88" name="Google Shape;88;p4"/>
          <p:cNvSpPr txBox="1"/>
          <p:nvPr/>
        </p:nvSpPr>
        <p:spPr>
          <a:xfrm>
            <a:off x="640080" y="1513664"/>
            <a:ext cx="7863900" cy="549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CA" sz="1600" u="none" cap="none" strike="noStrike">
                <a:solidFill>
                  <a:srgbClr val="B87333"/>
                </a:solidFill>
                <a:latin typeface="Calibri"/>
                <a:ea typeface="Calibri"/>
                <a:cs typeface="Calibri"/>
                <a:sym typeface="Calibri"/>
              </a:rPr>
              <a:t>✓  LETTER OF MUNICIPAL SUPPORT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200"/>
              <a:buFont typeface="Arial"/>
              <a:buNone/>
            </a:pPr>
            <a:r>
              <a:rPr b="0" i="0" lang="en-CA" sz="1200" u="none" cap="none" strike="noStrike">
                <a:solidFill>
                  <a:srgbClr val="2C3E50"/>
                </a:solidFill>
                <a:latin typeface="Calibri"/>
                <a:ea typeface="Calibri"/>
                <a:cs typeface="Calibri"/>
                <a:sym typeface="Calibri"/>
              </a:rPr>
              <a:t>  For federal grant applications: PrairiesCan, Alberta Innovates, CanExport</a:t>
            </a:r>
            <a:endParaRPr b="0" i="0" sz="1400" u="none" cap="none" strike="noStrike">
              <a:solidFill>
                <a:srgbClr val="2C3E50"/>
              </a:solidFill>
              <a:latin typeface="Arial"/>
              <a:ea typeface="Arial"/>
              <a:cs typeface="Arial"/>
              <a:sym typeface="Arial"/>
            </a:endParaRPr>
          </a:p>
        </p:txBody>
      </p:sp>
      <p:sp>
        <p:nvSpPr>
          <p:cNvPr id="89" name="Google Shape;89;p4"/>
          <p:cNvSpPr txBox="1"/>
          <p:nvPr/>
        </p:nvSpPr>
        <p:spPr>
          <a:xfrm>
            <a:off x="640075" y="2057400"/>
            <a:ext cx="7863900" cy="75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CA" sz="1600" u="none" cap="none" strike="noStrike">
                <a:solidFill>
                  <a:srgbClr val="B87333"/>
                </a:solidFill>
                <a:latin typeface="Calibri"/>
                <a:ea typeface="Calibri"/>
                <a:cs typeface="Calibri"/>
                <a:sym typeface="Calibri"/>
              </a:rPr>
              <a:t>✓  UTILITY CONNECTION ASSISTANCE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200"/>
              <a:buFont typeface="Arial"/>
              <a:buNone/>
            </a:pPr>
            <a:r>
              <a:rPr b="0" i="0" lang="en-CA" sz="1200" u="none" cap="none" strike="noStrike">
                <a:solidFill>
                  <a:srgbClr val="2C3E50"/>
                </a:solidFill>
                <a:latin typeface="Calibri"/>
                <a:ea typeface="Calibri"/>
                <a:cs typeface="Calibri"/>
                <a:sym typeface="Calibri"/>
              </a:rPr>
              <a:t>  Guidance on power, water, natural gas routing</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200"/>
              <a:buFont typeface="Arial"/>
              <a:buNone/>
            </a:pPr>
            <a:r>
              <a:rPr b="0" i="0" lang="en-CA" sz="1200" u="none" cap="none" strike="noStrike">
                <a:solidFill>
                  <a:srgbClr val="2C3E50"/>
                </a:solidFill>
                <a:latin typeface="Calibri"/>
                <a:ea typeface="Calibri"/>
                <a:cs typeface="Calibri"/>
                <a:sym typeface="Calibri"/>
              </a:rPr>
              <a:t>  Introductions to utility providers (ENMAX, EPCOR, ATCO)</a:t>
            </a:r>
            <a:endParaRPr b="0" i="0" sz="1400" u="none" cap="none" strike="noStrike">
              <a:solidFill>
                <a:srgbClr val="2C3E50"/>
              </a:solidFill>
              <a:latin typeface="Arial"/>
              <a:ea typeface="Arial"/>
              <a:cs typeface="Arial"/>
              <a:sym typeface="Arial"/>
            </a:endParaRPr>
          </a:p>
        </p:txBody>
      </p:sp>
      <p:sp>
        <p:nvSpPr>
          <p:cNvPr id="90" name="Google Shape;90;p4"/>
          <p:cNvSpPr txBox="1"/>
          <p:nvPr/>
        </p:nvSpPr>
        <p:spPr>
          <a:xfrm>
            <a:off x="640050" y="2777484"/>
            <a:ext cx="7863900" cy="75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CA" sz="1600" u="none" cap="none" strike="noStrike">
                <a:solidFill>
                  <a:srgbClr val="B87333"/>
                </a:solidFill>
                <a:latin typeface="Calibri"/>
                <a:ea typeface="Calibri"/>
                <a:cs typeface="Calibri"/>
                <a:sym typeface="Calibri"/>
              </a:rPr>
              <a:t>✓  PERMITTING COOPERATION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200"/>
              <a:buFont typeface="Arial"/>
              <a:buNone/>
            </a:pPr>
            <a:r>
              <a:rPr b="0" i="0" lang="en-CA" sz="1200" u="none" cap="none" strike="noStrike">
                <a:solidFill>
                  <a:srgbClr val="C0C0C0"/>
                </a:solidFill>
                <a:latin typeface="Calibri"/>
                <a:ea typeface="Calibri"/>
                <a:cs typeface="Calibri"/>
                <a:sym typeface="Calibri"/>
              </a:rPr>
              <a:t>  </a:t>
            </a:r>
            <a:r>
              <a:rPr b="0" i="0" lang="en-CA" sz="1200" u="none" cap="none" strike="noStrike">
                <a:solidFill>
                  <a:srgbClr val="2C3E50"/>
                </a:solidFill>
                <a:latin typeface="Calibri"/>
                <a:ea typeface="Calibri"/>
                <a:cs typeface="Calibri"/>
                <a:sym typeface="Calibri"/>
              </a:rPr>
              <a:t>Collaborative approach to building, environmental, and operational permits</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200"/>
              <a:buFont typeface="Arial"/>
              <a:buNone/>
            </a:pPr>
            <a:r>
              <a:rPr b="0" i="0" lang="en-CA" sz="1200" u="none" cap="none" strike="noStrike">
                <a:solidFill>
                  <a:srgbClr val="2C3E50"/>
                </a:solidFill>
                <a:latin typeface="Calibri"/>
                <a:ea typeface="Calibri"/>
                <a:cs typeface="Calibri"/>
                <a:sym typeface="Calibri"/>
              </a:rPr>
              <a:t>  Streamlined approval process where possible</a:t>
            </a:r>
            <a:endParaRPr b="0" i="0" sz="1400" u="none" cap="none" strike="noStrike">
              <a:solidFill>
                <a:srgbClr val="2C3E50"/>
              </a:solidFill>
              <a:latin typeface="Arial"/>
              <a:ea typeface="Arial"/>
              <a:cs typeface="Arial"/>
              <a:sym typeface="Arial"/>
            </a:endParaRPr>
          </a:p>
        </p:txBody>
      </p:sp>
      <p:sp>
        <p:nvSpPr>
          <p:cNvPr id="91" name="Google Shape;91;p4"/>
          <p:cNvSpPr/>
          <p:nvPr/>
        </p:nvSpPr>
        <p:spPr>
          <a:xfrm>
            <a:off x="914400" y="3566160"/>
            <a:ext cx="7315200" cy="13716"/>
          </a:xfrm>
          <a:prstGeom prst="rect">
            <a:avLst/>
          </a:prstGeom>
          <a:solidFill>
            <a:srgbClr val="B87333"/>
          </a:solidFill>
          <a:ln>
            <a:noFill/>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2" name="Google Shape;92;p4"/>
          <p:cNvSpPr txBox="1"/>
          <p:nvPr/>
        </p:nvSpPr>
        <p:spPr>
          <a:xfrm>
            <a:off x="640055" y="3722195"/>
            <a:ext cx="7863900" cy="1026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CA" sz="1400" u="none" cap="none" strike="noStrike">
                <a:solidFill>
                  <a:srgbClr val="B87333"/>
                </a:solidFill>
                <a:latin typeface="Calibri"/>
                <a:ea typeface="Calibri"/>
                <a:cs typeface="Calibri"/>
                <a:sym typeface="Calibri"/>
              </a:rPr>
              <a:t>WHAT WE ARE NOT REQUESTING FROM THE CITY OF AIRDRIE:</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200"/>
              <a:buFont typeface="Arial"/>
              <a:buNone/>
            </a:pPr>
            <a:r>
              <a:rPr b="0" i="0" lang="en-CA" sz="1200" u="none" cap="none" strike="noStrike">
                <a:solidFill>
                  <a:srgbClr val="2C3E50"/>
                </a:solidFill>
                <a:latin typeface="Calibri"/>
                <a:ea typeface="Calibri"/>
                <a:cs typeface="Calibri"/>
                <a:sym typeface="Calibri"/>
              </a:rPr>
              <a:t>✗  No loan guarantees or financial backstops</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200"/>
              <a:buFont typeface="Arial"/>
              <a:buNone/>
            </a:pPr>
            <a:r>
              <a:rPr b="0" i="0" lang="en-CA" sz="1200" u="none" cap="none" strike="noStrike">
                <a:solidFill>
                  <a:srgbClr val="2C3E50"/>
                </a:solidFill>
                <a:latin typeface="Calibri"/>
                <a:ea typeface="Calibri"/>
                <a:cs typeface="Calibri"/>
                <a:sym typeface="Calibri"/>
              </a:rPr>
              <a:t>✗  No ongoing operational subsidies</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100"/>
              <a:buFont typeface="Arial"/>
              <a:buNone/>
            </a:pPr>
            <a:r>
              <a:rPr b="1" i="0" lang="en-CA" sz="1100" u="none" cap="none" strike="noStrike">
                <a:solidFill>
                  <a:srgbClr val="B87333"/>
                </a:solidFill>
                <a:latin typeface="Calibri"/>
                <a:ea typeface="Calibri"/>
                <a:cs typeface="Calibri"/>
                <a:sym typeface="Calibri"/>
              </a:rPr>
              <a:t>We will secure capital through federal/provincial grants and private investment.</a:t>
            </a:r>
            <a:endParaRPr b="0" i="0" sz="1400" u="none" cap="none" strike="noStrike">
              <a:solidFill>
                <a:srgbClr val="000000"/>
              </a:solidFill>
              <a:latin typeface="Arial"/>
              <a:ea typeface="Arial"/>
              <a:cs typeface="Arial"/>
              <a:sym typeface="Arial"/>
            </a:endParaRPr>
          </a:p>
        </p:txBody>
      </p:sp>
      <p:pic>
        <p:nvPicPr>
          <p:cNvPr descr="fluxgen-logo-monogram.png" id="93" name="Google Shape;93;p4"/>
          <p:cNvPicPr preferRelativeResize="0"/>
          <p:nvPr/>
        </p:nvPicPr>
        <p:blipFill rotWithShape="1">
          <a:blip r:embed="rId3">
            <a:alphaModFix/>
          </a:blip>
          <a:srcRect b="0" l="0" r="0" t="0"/>
          <a:stretch/>
        </p:blipFill>
        <p:spPr>
          <a:xfrm>
            <a:off x="8412480" y="4800600"/>
            <a:ext cx="274320" cy="27432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7" name="Shape 97"/>
        <p:cNvGrpSpPr/>
        <p:nvPr/>
      </p:nvGrpSpPr>
      <p:grpSpPr>
        <a:xfrm>
          <a:off x="0" y="0"/>
          <a:ext cx="0" cy="0"/>
          <a:chOff x="0" y="0"/>
          <a:chExt cx="0" cy="0"/>
        </a:xfrm>
      </p:grpSpPr>
      <p:sp>
        <p:nvSpPr>
          <p:cNvPr id="98" name="Google Shape;98;p5"/>
          <p:cNvSpPr txBox="1"/>
          <p:nvPr/>
        </p:nvSpPr>
        <p:spPr>
          <a:xfrm>
            <a:off x="457200" y="78040"/>
            <a:ext cx="8229600" cy="892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n-CA" sz="3200" u="none" cap="none" strike="noStrike">
                <a:solidFill>
                  <a:srgbClr val="B87333"/>
                </a:solidFill>
                <a:latin typeface="Calibri"/>
                <a:ea typeface="Calibri"/>
                <a:cs typeface="Calibri"/>
                <a:sym typeface="Calibri"/>
              </a:rPr>
              <a:t>PROJECTED 7-YEAR COMMUNITY IMPACT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en-CA" sz="2000" u="none" cap="none" strike="noStrike">
                <a:solidFill>
                  <a:srgbClr val="2C3E50"/>
                </a:solidFill>
                <a:latin typeface="Calibri"/>
                <a:ea typeface="Calibri"/>
                <a:cs typeface="Calibri"/>
                <a:sym typeface="Calibri"/>
              </a:rPr>
              <a:t>What Airdrie Receives</a:t>
            </a:r>
            <a:endParaRPr b="0" i="0" sz="1400" u="none" cap="none" strike="noStrike">
              <a:solidFill>
                <a:srgbClr val="2C3E50"/>
              </a:solidFill>
              <a:latin typeface="Arial"/>
              <a:ea typeface="Arial"/>
              <a:cs typeface="Arial"/>
              <a:sym typeface="Arial"/>
            </a:endParaRPr>
          </a:p>
        </p:txBody>
      </p:sp>
      <p:sp>
        <p:nvSpPr>
          <p:cNvPr id="99" name="Google Shape;99;p5"/>
          <p:cNvSpPr txBox="1"/>
          <p:nvPr/>
        </p:nvSpPr>
        <p:spPr>
          <a:xfrm>
            <a:off x="914400" y="891540"/>
            <a:ext cx="3200400" cy="41148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CA" sz="1400" u="none" cap="none" strike="noStrike">
                <a:solidFill>
                  <a:srgbClr val="B87333"/>
                </a:solidFill>
                <a:latin typeface="Calibri"/>
                <a:ea typeface="Calibri"/>
                <a:cs typeface="Calibri"/>
                <a:sym typeface="Calibri"/>
              </a:rPr>
              <a:t>Direct Jobs Created</a:t>
            </a:r>
            <a:endParaRPr b="0" i="0" sz="1400" u="none" cap="none" strike="noStrike">
              <a:solidFill>
                <a:srgbClr val="000000"/>
              </a:solidFill>
              <a:latin typeface="Arial"/>
              <a:ea typeface="Arial"/>
              <a:cs typeface="Arial"/>
              <a:sym typeface="Arial"/>
            </a:endParaRPr>
          </a:p>
        </p:txBody>
      </p:sp>
      <p:sp>
        <p:nvSpPr>
          <p:cNvPr id="100" name="Google Shape;100;p5"/>
          <p:cNvSpPr txBox="1"/>
          <p:nvPr/>
        </p:nvSpPr>
        <p:spPr>
          <a:xfrm>
            <a:off x="4389120" y="891540"/>
            <a:ext cx="3840600" cy="3387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CA" sz="1600" u="none" cap="none" strike="noStrike">
                <a:solidFill>
                  <a:srgbClr val="2C3E50"/>
                </a:solidFill>
                <a:latin typeface="Calibri"/>
                <a:ea typeface="Calibri"/>
                <a:cs typeface="Calibri"/>
                <a:sym typeface="Calibri"/>
              </a:rPr>
              <a:t>10 (Year 1) → Grown by 300% (Year 7)</a:t>
            </a:r>
            <a:endParaRPr b="0" i="0" sz="1400" u="none" cap="none" strike="noStrike">
              <a:solidFill>
                <a:srgbClr val="2C3E50"/>
              </a:solidFill>
              <a:latin typeface="Arial"/>
              <a:ea typeface="Arial"/>
              <a:cs typeface="Arial"/>
              <a:sym typeface="Arial"/>
            </a:endParaRPr>
          </a:p>
        </p:txBody>
      </p:sp>
      <p:sp>
        <p:nvSpPr>
          <p:cNvPr id="101" name="Google Shape;101;p5"/>
          <p:cNvSpPr txBox="1"/>
          <p:nvPr/>
        </p:nvSpPr>
        <p:spPr>
          <a:xfrm>
            <a:off x="914400" y="1371600"/>
            <a:ext cx="3200400" cy="41148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CA" sz="1400" u="none" cap="none" strike="noStrike">
                <a:solidFill>
                  <a:srgbClr val="B87333"/>
                </a:solidFill>
                <a:latin typeface="Calibri"/>
                <a:ea typeface="Calibri"/>
                <a:cs typeface="Calibri"/>
                <a:sym typeface="Calibri"/>
              </a:rPr>
              <a:t>Annual Payroll</a:t>
            </a:r>
            <a:endParaRPr b="0" i="0" sz="1400" u="none" cap="none" strike="noStrike">
              <a:solidFill>
                <a:srgbClr val="000000"/>
              </a:solidFill>
              <a:latin typeface="Arial"/>
              <a:ea typeface="Arial"/>
              <a:cs typeface="Arial"/>
              <a:sym typeface="Arial"/>
            </a:endParaRPr>
          </a:p>
        </p:txBody>
      </p:sp>
      <p:sp>
        <p:nvSpPr>
          <p:cNvPr id="102" name="Google Shape;102;p5"/>
          <p:cNvSpPr txBox="1"/>
          <p:nvPr/>
        </p:nvSpPr>
        <p:spPr>
          <a:xfrm>
            <a:off x="4389120" y="1371600"/>
            <a:ext cx="3840600" cy="3387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CA" sz="1600" u="none" cap="none" strike="noStrike">
                <a:solidFill>
                  <a:srgbClr val="2C3E50"/>
                </a:solidFill>
                <a:latin typeface="Calibri"/>
                <a:ea typeface="Calibri"/>
                <a:cs typeface="Calibri"/>
                <a:sym typeface="Calibri"/>
              </a:rPr>
              <a:t>$600K (Year 1) → $2.8M (Year 7)</a:t>
            </a:r>
            <a:endParaRPr b="0" i="0" sz="1400" u="none" cap="none" strike="noStrike">
              <a:solidFill>
                <a:srgbClr val="2C3E50"/>
              </a:solidFill>
              <a:latin typeface="Arial"/>
              <a:ea typeface="Arial"/>
              <a:cs typeface="Arial"/>
              <a:sym typeface="Arial"/>
            </a:endParaRPr>
          </a:p>
        </p:txBody>
      </p:sp>
      <p:sp>
        <p:nvSpPr>
          <p:cNvPr id="103" name="Google Shape;103;p5"/>
          <p:cNvSpPr txBox="1"/>
          <p:nvPr/>
        </p:nvSpPr>
        <p:spPr>
          <a:xfrm>
            <a:off x="914400" y="1851660"/>
            <a:ext cx="3200400" cy="41148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CA" sz="1400" u="none" cap="none" strike="noStrike">
                <a:solidFill>
                  <a:srgbClr val="B87333"/>
                </a:solidFill>
                <a:latin typeface="Calibri"/>
                <a:ea typeface="Calibri"/>
                <a:cs typeface="Calibri"/>
                <a:sym typeface="Calibri"/>
              </a:rPr>
              <a:t>Production Value</a:t>
            </a:r>
            <a:endParaRPr b="0" i="0" sz="1400" u="none" cap="none" strike="noStrike">
              <a:solidFill>
                <a:srgbClr val="000000"/>
              </a:solidFill>
              <a:latin typeface="Arial"/>
              <a:ea typeface="Arial"/>
              <a:cs typeface="Arial"/>
              <a:sym typeface="Arial"/>
            </a:endParaRPr>
          </a:p>
        </p:txBody>
      </p:sp>
      <p:sp>
        <p:nvSpPr>
          <p:cNvPr id="104" name="Google Shape;104;p5"/>
          <p:cNvSpPr txBox="1"/>
          <p:nvPr/>
        </p:nvSpPr>
        <p:spPr>
          <a:xfrm>
            <a:off x="4389120" y="1851660"/>
            <a:ext cx="3840600" cy="3387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CA" sz="1600" u="none" cap="none" strike="noStrike">
                <a:solidFill>
                  <a:srgbClr val="2C3E50"/>
                </a:solidFill>
                <a:latin typeface="Calibri"/>
                <a:ea typeface="Calibri"/>
                <a:cs typeface="Calibri"/>
                <a:sym typeface="Calibri"/>
              </a:rPr>
              <a:t>$2.5M (Year 1) → $3</a:t>
            </a:r>
            <a:r>
              <a:rPr b="1" lang="en-CA" sz="1600">
                <a:solidFill>
                  <a:srgbClr val="2C3E50"/>
                </a:solidFill>
                <a:latin typeface="Calibri"/>
                <a:ea typeface="Calibri"/>
                <a:cs typeface="Calibri"/>
                <a:sym typeface="Calibri"/>
              </a:rPr>
              <a:t>0</a:t>
            </a:r>
            <a:r>
              <a:rPr b="1" i="0" lang="en-CA" sz="1600" u="none" cap="none" strike="noStrike">
                <a:solidFill>
                  <a:srgbClr val="2C3E50"/>
                </a:solidFill>
                <a:latin typeface="Calibri"/>
                <a:ea typeface="Calibri"/>
                <a:cs typeface="Calibri"/>
                <a:sym typeface="Calibri"/>
              </a:rPr>
              <a:t>M (Year 7)</a:t>
            </a:r>
            <a:endParaRPr b="0" i="0" sz="1400" u="none" cap="none" strike="noStrike">
              <a:solidFill>
                <a:srgbClr val="2C3E50"/>
              </a:solidFill>
              <a:latin typeface="Arial"/>
              <a:ea typeface="Arial"/>
              <a:cs typeface="Arial"/>
              <a:sym typeface="Arial"/>
            </a:endParaRPr>
          </a:p>
        </p:txBody>
      </p:sp>
      <p:sp>
        <p:nvSpPr>
          <p:cNvPr id="105" name="Google Shape;105;p5"/>
          <p:cNvSpPr txBox="1"/>
          <p:nvPr/>
        </p:nvSpPr>
        <p:spPr>
          <a:xfrm>
            <a:off x="914400" y="2331720"/>
            <a:ext cx="3200400" cy="41148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CA" sz="1400" u="none" cap="none" strike="noStrike">
                <a:solidFill>
                  <a:srgbClr val="B87333"/>
                </a:solidFill>
                <a:latin typeface="Calibri"/>
                <a:ea typeface="Calibri"/>
                <a:cs typeface="Calibri"/>
                <a:sym typeface="Calibri"/>
              </a:rPr>
              <a:t>Property Tax (7-year)</a:t>
            </a:r>
            <a:endParaRPr b="0" i="0" sz="1400" u="none" cap="none" strike="noStrike">
              <a:solidFill>
                <a:srgbClr val="000000"/>
              </a:solidFill>
              <a:latin typeface="Arial"/>
              <a:ea typeface="Arial"/>
              <a:cs typeface="Arial"/>
              <a:sym typeface="Arial"/>
            </a:endParaRPr>
          </a:p>
        </p:txBody>
      </p:sp>
      <p:sp>
        <p:nvSpPr>
          <p:cNvPr id="106" name="Google Shape;106;p5"/>
          <p:cNvSpPr txBox="1"/>
          <p:nvPr/>
        </p:nvSpPr>
        <p:spPr>
          <a:xfrm>
            <a:off x="4389120" y="2331720"/>
            <a:ext cx="3840600" cy="3387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CA" sz="1600" u="none" cap="none" strike="noStrike">
                <a:solidFill>
                  <a:srgbClr val="2C3E50"/>
                </a:solidFill>
                <a:latin typeface="Calibri"/>
                <a:ea typeface="Calibri"/>
                <a:cs typeface="Calibri"/>
                <a:sym typeface="Calibri"/>
              </a:rPr>
              <a:t>$3</a:t>
            </a:r>
            <a:r>
              <a:rPr b="1" lang="en-CA" sz="1600">
                <a:solidFill>
                  <a:srgbClr val="2C3E50"/>
                </a:solidFill>
                <a:latin typeface="Calibri"/>
                <a:ea typeface="Calibri"/>
                <a:cs typeface="Calibri"/>
                <a:sym typeface="Calibri"/>
              </a:rPr>
              <a:t>00K to $400K</a:t>
            </a:r>
            <a:r>
              <a:rPr b="1" i="0" lang="en-CA" sz="1600" u="none" cap="none" strike="noStrike">
                <a:solidFill>
                  <a:srgbClr val="2C3E50"/>
                </a:solidFill>
                <a:latin typeface="Calibri"/>
                <a:ea typeface="Calibri"/>
                <a:cs typeface="Calibri"/>
                <a:sym typeface="Calibri"/>
              </a:rPr>
              <a:t> cumulative</a:t>
            </a:r>
            <a:endParaRPr b="0" i="0" sz="1400" u="none" cap="none" strike="noStrike">
              <a:solidFill>
                <a:srgbClr val="2C3E50"/>
              </a:solidFill>
              <a:latin typeface="Arial"/>
              <a:ea typeface="Arial"/>
              <a:cs typeface="Arial"/>
              <a:sym typeface="Arial"/>
            </a:endParaRPr>
          </a:p>
        </p:txBody>
      </p:sp>
      <p:sp>
        <p:nvSpPr>
          <p:cNvPr id="107" name="Google Shape;107;p5"/>
          <p:cNvSpPr txBox="1"/>
          <p:nvPr/>
        </p:nvSpPr>
        <p:spPr>
          <a:xfrm>
            <a:off x="914400" y="2811780"/>
            <a:ext cx="3200400" cy="41148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CA" sz="1400" u="none" cap="none" strike="noStrike">
                <a:solidFill>
                  <a:srgbClr val="B87333"/>
                </a:solidFill>
                <a:latin typeface="Calibri"/>
                <a:ea typeface="Calibri"/>
                <a:cs typeface="Calibri"/>
                <a:sym typeface="Calibri"/>
              </a:rPr>
              <a:t>Export Revenue</a:t>
            </a:r>
            <a:endParaRPr b="0" i="0" sz="1400" u="none" cap="none" strike="noStrike">
              <a:solidFill>
                <a:srgbClr val="000000"/>
              </a:solidFill>
              <a:latin typeface="Arial"/>
              <a:ea typeface="Arial"/>
              <a:cs typeface="Arial"/>
              <a:sym typeface="Arial"/>
            </a:endParaRPr>
          </a:p>
        </p:txBody>
      </p:sp>
      <p:sp>
        <p:nvSpPr>
          <p:cNvPr id="108" name="Google Shape;108;p5"/>
          <p:cNvSpPr txBox="1"/>
          <p:nvPr/>
        </p:nvSpPr>
        <p:spPr>
          <a:xfrm>
            <a:off x="4389120" y="2811780"/>
            <a:ext cx="3840600" cy="3387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CA" sz="1600" u="none" cap="none" strike="noStrike">
                <a:solidFill>
                  <a:srgbClr val="2C3E50"/>
                </a:solidFill>
                <a:latin typeface="Calibri"/>
                <a:ea typeface="Calibri"/>
                <a:cs typeface="Calibri"/>
                <a:sym typeface="Calibri"/>
              </a:rPr>
              <a:t>$2M (Year 3) → $8M (Year 7)</a:t>
            </a:r>
            <a:endParaRPr b="0" i="0" sz="1400" u="none" cap="none" strike="noStrike">
              <a:solidFill>
                <a:srgbClr val="2C3E50"/>
              </a:solidFill>
              <a:latin typeface="Arial"/>
              <a:ea typeface="Arial"/>
              <a:cs typeface="Arial"/>
              <a:sym typeface="Arial"/>
            </a:endParaRPr>
          </a:p>
        </p:txBody>
      </p:sp>
      <p:sp>
        <p:nvSpPr>
          <p:cNvPr id="109" name="Google Shape;109;p5"/>
          <p:cNvSpPr txBox="1"/>
          <p:nvPr/>
        </p:nvSpPr>
        <p:spPr>
          <a:xfrm>
            <a:off x="914400" y="3291840"/>
            <a:ext cx="3200400" cy="41148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CA" sz="1400" u="none" cap="none" strike="noStrike">
                <a:solidFill>
                  <a:srgbClr val="B87333"/>
                </a:solidFill>
                <a:latin typeface="Calibri"/>
                <a:ea typeface="Calibri"/>
                <a:cs typeface="Calibri"/>
                <a:sym typeface="Calibri"/>
              </a:rPr>
              <a:t>Economic Impact (7-year)</a:t>
            </a:r>
            <a:endParaRPr b="0" i="0" sz="1400" u="none" cap="none" strike="noStrike">
              <a:solidFill>
                <a:srgbClr val="000000"/>
              </a:solidFill>
              <a:latin typeface="Arial"/>
              <a:ea typeface="Arial"/>
              <a:cs typeface="Arial"/>
              <a:sym typeface="Arial"/>
            </a:endParaRPr>
          </a:p>
        </p:txBody>
      </p:sp>
      <p:sp>
        <p:nvSpPr>
          <p:cNvPr id="110" name="Google Shape;110;p5"/>
          <p:cNvSpPr txBox="1"/>
          <p:nvPr/>
        </p:nvSpPr>
        <p:spPr>
          <a:xfrm>
            <a:off x="4389120" y="3291840"/>
            <a:ext cx="3840600" cy="3387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CA" sz="1600" u="none" cap="none" strike="noStrike">
                <a:solidFill>
                  <a:srgbClr val="2C3E50"/>
                </a:solidFill>
                <a:latin typeface="Calibri"/>
                <a:ea typeface="Calibri"/>
                <a:cs typeface="Calibri"/>
                <a:sym typeface="Calibri"/>
              </a:rPr>
              <a:t>$312 MILLION total</a:t>
            </a:r>
            <a:endParaRPr b="0" i="0" sz="1400" u="none" cap="none" strike="noStrike">
              <a:solidFill>
                <a:srgbClr val="2C3E50"/>
              </a:solidFill>
              <a:latin typeface="Arial"/>
              <a:ea typeface="Arial"/>
              <a:cs typeface="Arial"/>
              <a:sym typeface="Arial"/>
            </a:endParaRPr>
          </a:p>
        </p:txBody>
      </p:sp>
      <p:sp>
        <p:nvSpPr>
          <p:cNvPr id="111" name="Google Shape;111;p5"/>
          <p:cNvSpPr txBox="1"/>
          <p:nvPr/>
        </p:nvSpPr>
        <p:spPr>
          <a:xfrm>
            <a:off x="914400" y="3977640"/>
            <a:ext cx="7315200" cy="1195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CA" sz="1800" u="none" cap="none" strike="noStrike">
                <a:solidFill>
                  <a:srgbClr val="B87333"/>
                </a:solidFill>
                <a:latin typeface="Calibri"/>
                <a:ea typeface="Calibri"/>
                <a:cs typeface="Calibri"/>
                <a:sym typeface="Calibri"/>
              </a:rPr>
              <a:t>THE VALUE EXCHANGE: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600"/>
              </a:spcBef>
              <a:spcAft>
                <a:spcPts val="0"/>
              </a:spcAft>
              <a:buClr>
                <a:srgbClr val="000000"/>
              </a:buClr>
              <a:buSzPts val="1400"/>
              <a:buFont typeface="Arial"/>
              <a:buNone/>
            </a:pPr>
            <a:r>
              <a:rPr b="0" i="0" lang="en-CA" sz="1400" u="none" cap="none" strike="noStrike">
                <a:solidFill>
                  <a:srgbClr val="2C3E50"/>
                </a:solidFill>
                <a:latin typeface="Calibri"/>
                <a:ea typeface="Calibri"/>
                <a:cs typeface="Calibri"/>
                <a:sym typeface="Calibri"/>
              </a:rPr>
              <a:t>Airdrie invests: 10-15 acres of land (currently generating $0)</a:t>
            </a:r>
            <a:endParaRPr b="0" i="0" sz="1400" u="none" cap="none" strike="noStrike">
              <a:solidFill>
                <a:srgbClr val="2C3E50"/>
              </a:solidFill>
              <a:latin typeface="Arial"/>
              <a:ea typeface="Arial"/>
              <a:cs typeface="Arial"/>
              <a:sym typeface="Arial"/>
            </a:endParaRPr>
          </a:p>
          <a:p>
            <a:pPr indent="0" lvl="0" marL="0" marR="0" rtl="0" algn="ctr">
              <a:lnSpc>
                <a:spcPct val="100000"/>
              </a:lnSpc>
              <a:spcBef>
                <a:spcPts val="800"/>
              </a:spcBef>
              <a:spcAft>
                <a:spcPts val="0"/>
              </a:spcAft>
              <a:buClr>
                <a:srgbClr val="000000"/>
              </a:buClr>
              <a:buSzPts val="1400"/>
              <a:buFont typeface="Arial"/>
              <a:buNone/>
            </a:pPr>
            <a:r>
              <a:rPr b="1" i="0" lang="en-CA" sz="1400" u="none" cap="none" strike="noStrike">
                <a:solidFill>
                  <a:srgbClr val="B87333"/>
                </a:solidFill>
                <a:latin typeface="Calibri"/>
                <a:ea typeface="Calibri"/>
                <a:cs typeface="Calibri"/>
                <a:sym typeface="Calibri"/>
              </a:rPr>
              <a:t>Airdrie receives: $312M economic impact + multiple skilled jobs + $</a:t>
            </a:r>
            <a:r>
              <a:rPr b="1" lang="en-CA">
                <a:solidFill>
                  <a:srgbClr val="B87333"/>
                </a:solidFill>
                <a:latin typeface="Calibri"/>
                <a:ea typeface="Calibri"/>
                <a:cs typeface="Calibri"/>
                <a:sym typeface="Calibri"/>
              </a:rPr>
              <a:t>400K</a:t>
            </a:r>
            <a:r>
              <a:rPr b="1" i="0" lang="en-CA" sz="1400" u="none" cap="none" strike="noStrike">
                <a:solidFill>
                  <a:srgbClr val="B87333"/>
                </a:solidFill>
                <a:latin typeface="Calibri"/>
                <a:ea typeface="Calibri"/>
                <a:cs typeface="Calibri"/>
                <a:sym typeface="Calibri"/>
              </a:rPr>
              <a:t>property tax + national prestige</a:t>
            </a:r>
            <a:endParaRPr b="0" i="0" sz="1400" u="none" cap="none" strike="noStrike">
              <a:solidFill>
                <a:srgbClr val="000000"/>
              </a:solidFill>
              <a:latin typeface="Arial"/>
              <a:ea typeface="Arial"/>
              <a:cs typeface="Arial"/>
              <a:sym typeface="Arial"/>
            </a:endParaRPr>
          </a:p>
        </p:txBody>
      </p:sp>
      <p:pic>
        <p:nvPicPr>
          <p:cNvPr descr="fluxgen-logo-monogram.png" id="112" name="Google Shape;112;p5"/>
          <p:cNvPicPr preferRelativeResize="0"/>
          <p:nvPr/>
        </p:nvPicPr>
        <p:blipFill rotWithShape="1">
          <a:blip r:embed="rId3">
            <a:alphaModFix/>
          </a:blip>
          <a:srcRect b="0" l="0" r="0" t="0"/>
          <a:stretch/>
        </p:blipFill>
        <p:spPr>
          <a:xfrm>
            <a:off x="8412480" y="4800600"/>
            <a:ext cx="274320" cy="27432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6" name="Shape 116"/>
        <p:cNvGrpSpPr/>
        <p:nvPr/>
      </p:nvGrpSpPr>
      <p:grpSpPr>
        <a:xfrm>
          <a:off x="0" y="0"/>
          <a:ext cx="0" cy="0"/>
          <a:chOff x="0" y="0"/>
          <a:chExt cx="0" cy="0"/>
        </a:xfrm>
      </p:grpSpPr>
      <p:sp>
        <p:nvSpPr>
          <p:cNvPr id="117" name="Google Shape;117;p6"/>
          <p:cNvSpPr txBox="1"/>
          <p:nvPr/>
        </p:nvSpPr>
        <p:spPr>
          <a:xfrm>
            <a:off x="457200" y="205757"/>
            <a:ext cx="8229600" cy="738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600"/>
              <a:buFont typeface="Arial"/>
              <a:buNone/>
            </a:pPr>
            <a:r>
              <a:rPr b="1" i="0" lang="en-CA" sz="2600" u="none" cap="none" strike="noStrike">
                <a:solidFill>
                  <a:srgbClr val="B87333"/>
                </a:solidFill>
                <a:latin typeface="Calibri"/>
                <a:ea typeface="Calibri"/>
                <a:cs typeface="Calibri"/>
                <a:sym typeface="Calibri"/>
              </a:rPr>
              <a:t>ALIGNMENT WITH AIRDRIE'S ECONOMIC STRATEGY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CA" sz="1600" u="none" cap="none" strike="noStrike">
                <a:solidFill>
                  <a:srgbClr val="2C3E50"/>
                </a:solidFill>
                <a:latin typeface="Calibri"/>
                <a:ea typeface="Calibri"/>
                <a:cs typeface="Calibri"/>
                <a:sym typeface="Calibri"/>
              </a:rPr>
              <a:t>2018-2028 Strategy Goals</a:t>
            </a:r>
            <a:endParaRPr b="0" i="0" sz="1400" u="none" cap="none" strike="noStrike">
              <a:solidFill>
                <a:srgbClr val="2C3E50"/>
              </a:solidFill>
              <a:latin typeface="Arial"/>
              <a:ea typeface="Arial"/>
              <a:cs typeface="Arial"/>
              <a:sym typeface="Arial"/>
            </a:endParaRPr>
          </a:p>
        </p:txBody>
      </p:sp>
      <p:sp>
        <p:nvSpPr>
          <p:cNvPr id="118" name="Google Shape;118;p6"/>
          <p:cNvSpPr/>
          <p:nvPr/>
        </p:nvSpPr>
        <p:spPr>
          <a:xfrm>
            <a:off x="640080" y="1028700"/>
            <a:ext cx="2560320" cy="3086100"/>
          </a:xfrm>
          <a:prstGeom prst="roundRect">
            <a:avLst>
              <a:gd fmla="val 16667" name="adj"/>
            </a:avLst>
          </a:prstGeom>
          <a:noFill/>
          <a:ln cap="flat" cmpd="sng" w="25400">
            <a:solidFill>
              <a:srgbClr val="B87333"/>
            </a:solidFill>
            <a:prstDash val="solid"/>
            <a:round/>
            <a:headEnd len="sm" w="sm" type="none"/>
            <a:tailEnd len="sm" w="sm" type="none"/>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CA" sz="1300" u="none" cap="none" strike="noStrike">
                <a:solidFill>
                  <a:srgbClr val="B87333"/>
                </a:solidFill>
                <a:latin typeface="Calibri"/>
                <a:ea typeface="Calibri"/>
                <a:cs typeface="Calibri"/>
                <a:sym typeface="Calibri"/>
              </a:rPr>
              <a:t>THE PLACE TO BE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200"/>
              </a:spcBef>
              <a:spcAft>
                <a:spcPts val="0"/>
              </a:spcAft>
              <a:buClr>
                <a:srgbClr val="000000"/>
              </a:buClr>
              <a:buSzPts val="1100"/>
              <a:buFont typeface="Arial"/>
              <a:buNone/>
            </a:pPr>
            <a:r>
              <a:rPr b="0" i="0" lang="en-CA" sz="1100" u="none" cap="none" strike="noStrike">
                <a:solidFill>
                  <a:srgbClr val="2C3E50"/>
                </a:solidFill>
                <a:latin typeface="Calibri"/>
                <a:ea typeface="Calibri"/>
                <a:cs typeface="Calibri"/>
                <a:sym typeface="Calibri"/>
              </a:rPr>
              <a:t>Drawing Best Talent</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 40+ skilled manufacturing jobs</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 $55K-$75K average wages</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 Metallurgists, engineers, technicians</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 Professionals with families buying homes</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 Above service sector compensation</a:t>
            </a:r>
            <a:endParaRPr b="0" i="0" sz="1400" u="none" cap="none" strike="noStrike">
              <a:solidFill>
                <a:srgbClr val="2C3E50"/>
              </a:solidFill>
              <a:latin typeface="Arial"/>
              <a:ea typeface="Arial"/>
              <a:cs typeface="Arial"/>
              <a:sym typeface="Arial"/>
            </a:endParaRPr>
          </a:p>
        </p:txBody>
      </p:sp>
      <p:sp>
        <p:nvSpPr>
          <p:cNvPr id="119" name="Google Shape;119;p6"/>
          <p:cNvSpPr/>
          <p:nvPr/>
        </p:nvSpPr>
        <p:spPr>
          <a:xfrm>
            <a:off x="3474720" y="1028700"/>
            <a:ext cx="2560200" cy="3086100"/>
          </a:xfrm>
          <a:prstGeom prst="roundRect">
            <a:avLst>
              <a:gd fmla="val 16667" name="adj"/>
            </a:avLst>
          </a:prstGeom>
          <a:noFill/>
          <a:ln cap="flat" cmpd="sng" w="25400">
            <a:solidFill>
              <a:srgbClr val="B87333"/>
            </a:solidFill>
            <a:prstDash val="solid"/>
            <a:round/>
            <a:headEnd len="sm" w="sm" type="none"/>
            <a:tailEnd len="sm" w="sm" type="none"/>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CA" sz="1300" u="none" cap="none" strike="noStrike">
                <a:solidFill>
                  <a:srgbClr val="B87333"/>
                </a:solidFill>
                <a:latin typeface="Calibri"/>
                <a:ea typeface="Calibri"/>
                <a:cs typeface="Calibri"/>
                <a:sym typeface="Calibri"/>
              </a:rPr>
              <a:t>RIGHT FOR BUSINESS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200"/>
              </a:spcBef>
              <a:spcAft>
                <a:spcPts val="0"/>
              </a:spcAft>
              <a:buClr>
                <a:srgbClr val="000000"/>
              </a:buClr>
              <a:buSzPts val="1100"/>
              <a:buFont typeface="Arial"/>
              <a:buNone/>
            </a:pPr>
            <a:r>
              <a:rPr b="0" i="0" lang="en-CA" sz="1100" u="none" cap="none" strike="noStrike">
                <a:solidFill>
                  <a:srgbClr val="2C3E50"/>
                </a:solidFill>
                <a:latin typeface="Calibri"/>
                <a:ea typeface="Calibri"/>
                <a:cs typeface="Calibri"/>
                <a:sym typeface="Calibri"/>
              </a:rPr>
              <a:t>Growing Tax Base</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 $9.17M Phase 1 capital investment</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 10-15 acre facility development</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 Shift from residential to industrial tax base</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 Commercial property tax revenue</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 Attract related industries</a:t>
            </a:r>
            <a:endParaRPr b="0" i="0" sz="1400" u="none" cap="none" strike="noStrike">
              <a:solidFill>
                <a:srgbClr val="2C3E50"/>
              </a:solidFill>
              <a:latin typeface="Arial"/>
              <a:ea typeface="Arial"/>
              <a:cs typeface="Arial"/>
              <a:sym typeface="Arial"/>
            </a:endParaRPr>
          </a:p>
        </p:txBody>
      </p:sp>
      <p:sp>
        <p:nvSpPr>
          <p:cNvPr id="120" name="Google Shape;120;p6"/>
          <p:cNvSpPr/>
          <p:nvPr/>
        </p:nvSpPr>
        <p:spPr>
          <a:xfrm>
            <a:off x="6309360" y="1028700"/>
            <a:ext cx="2560200" cy="3086100"/>
          </a:xfrm>
          <a:prstGeom prst="roundRect">
            <a:avLst>
              <a:gd fmla="val 16667" name="adj"/>
            </a:avLst>
          </a:prstGeom>
          <a:noFill/>
          <a:ln cap="flat" cmpd="sng" w="25400">
            <a:solidFill>
              <a:srgbClr val="B87333"/>
            </a:solidFill>
            <a:prstDash val="solid"/>
            <a:round/>
            <a:headEnd len="sm" w="sm" type="none"/>
            <a:tailEnd len="sm" w="sm" type="none"/>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CA" sz="1300" u="none" cap="none" strike="noStrike">
                <a:solidFill>
                  <a:srgbClr val="B87333"/>
                </a:solidFill>
                <a:latin typeface="Calibri"/>
                <a:ea typeface="Calibri"/>
                <a:cs typeface="Calibri"/>
                <a:sym typeface="Calibri"/>
              </a:rPr>
              <a:t>A CONNECTED COMMUNITY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200"/>
              </a:spcBef>
              <a:spcAft>
                <a:spcPts val="0"/>
              </a:spcAft>
              <a:buClr>
                <a:srgbClr val="000000"/>
              </a:buClr>
              <a:buSzPts val="1100"/>
              <a:buFont typeface="Arial"/>
              <a:buNone/>
            </a:pPr>
            <a:r>
              <a:rPr b="0" i="0" lang="en-CA" sz="1100" u="none" cap="none" strike="noStrike">
                <a:solidFill>
                  <a:srgbClr val="2C3E50"/>
                </a:solidFill>
                <a:latin typeface="Calibri"/>
                <a:ea typeface="Calibri"/>
                <a:cs typeface="Calibri"/>
                <a:sym typeface="Calibri"/>
              </a:rPr>
              <a:t>Capitalizing on Location</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 15 minutes to Calgary Airport</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 Perfect for export logistics</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 ArcNova Materials brings foreign revenue IN</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 Not sending Canadian dollars out</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 Economic diversification</a:t>
            </a:r>
            <a:endParaRPr b="0" i="0" sz="1400" u="none" cap="none" strike="noStrike">
              <a:solidFill>
                <a:srgbClr val="2C3E50"/>
              </a:solidFill>
              <a:latin typeface="Arial"/>
              <a:ea typeface="Arial"/>
              <a:cs typeface="Arial"/>
              <a:sym typeface="Arial"/>
            </a:endParaRPr>
          </a:p>
        </p:txBody>
      </p:sp>
      <p:sp>
        <p:nvSpPr>
          <p:cNvPr id="121" name="Google Shape;121;p6"/>
          <p:cNvSpPr txBox="1"/>
          <p:nvPr/>
        </p:nvSpPr>
        <p:spPr>
          <a:xfrm>
            <a:off x="914400" y="4320540"/>
            <a:ext cx="7315200" cy="815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CA" sz="1400" u="none" cap="none" strike="noStrike">
                <a:solidFill>
                  <a:srgbClr val="2C3E50"/>
                </a:solidFill>
                <a:latin typeface="Calibri"/>
                <a:ea typeface="Calibri"/>
                <a:cs typeface="Calibri"/>
                <a:sym typeface="Calibri"/>
              </a:rPr>
              <a:t>YOUR STRATEGY SAYS: 'Shift the tax base by attracting new industries.</a:t>
            </a:r>
            <a:endParaRPr b="0" i="0" sz="1400" u="none" cap="none" strike="noStrike">
              <a:solidFill>
                <a:srgbClr val="2C3E50"/>
              </a:solidFill>
              <a:latin typeface="Arial"/>
              <a:ea typeface="Arial"/>
              <a:cs typeface="Arial"/>
              <a:sym typeface="Arial"/>
            </a:endParaRPr>
          </a:p>
          <a:p>
            <a:pPr indent="0" lvl="0" marL="0" marR="0" rtl="0" algn="ctr">
              <a:lnSpc>
                <a:spcPct val="100000"/>
              </a:lnSpc>
              <a:spcBef>
                <a:spcPts val="600"/>
              </a:spcBef>
              <a:spcAft>
                <a:spcPts val="0"/>
              </a:spcAft>
              <a:buClr>
                <a:srgbClr val="000000"/>
              </a:buClr>
              <a:buSzPts val="1400"/>
              <a:buFont typeface="Arial"/>
              <a:buNone/>
            </a:pPr>
            <a:r>
              <a:rPr b="1" i="0" lang="en-CA" sz="1400" u="none" cap="none" strike="noStrike">
                <a:solidFill>
                  <a:srgbClr val="B87333"/>
                </a:solidFill>
                <a:latin typeface="Calibri"/>
                <a:ea typeface="Calibri"/>
                <a:cs typeface="Calibri"/>
                <a:sym typeface="Calibri"/>
              </a:rPr>
              <a:t>FluxGen delivers EXACTLY that. We're not asking you to change direction — we're accelerating what you're already doing.</a:t>
            </a:r>
            <a:endParaRPr b="0" i="0" sz="1400" u="none" cap="none" strike="noStrike">
              <a:solidFill>
                <a:srgbClr val="000000"/>
              </a:solidFill>
              <a:latin typeface="Arial"/>
              <a:ea typeface="Arial"/>
              <a:cs typeface="Arial"/>
              <a:sym typeface="Arial"/>
            </a:endParaRPr>
          </a:p>
        </p:txBody>
      </p:sp>
      <p:pic>
        <p:nvPicPr>
          <p:cNvPr descr="fluxgen-logo-monogram.png" id="122" name="Google Shape;122;p6"/>
          <p:cNvPicPr preferRelativeResize="0"/>
          <p:nvPr/>
        </p:nvPicPr>
        <p:blipFill rotWithShape="1">
          <a:blip r:embed="rId3">
            <a:alphaModFix/>
          </a:blip>
          <a:srcRect b="0" l="0" r="0" t="0"/>
          <a:stretch/>
        </p:blipFill>
        <p:spPr>
          <a:xfrm>
            <a:off x="8412480" y="4800600"/>
            <a:ext cx="274320" cy="27432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6" name="Shape 126"/>
        <p:cNvGrpSpPr/>
        <p:nvPr/>
      </p:nvGrpSpPr>
      <p:grpSpPr>
        <a:xfrm>
          <a:off x="0" y="0"/>
          <a:ext cx="0" cy="0"/>
          <a:chOff x="0" y="0"/>
          <a:chExt cx="0" cy="0"/>
        </a:xfrm>
      </p:grpSpPr>
      <p:sp>
        <p:nvSpPr>
          <p:cNvPr id="127" name="Google Shape;127;p7"/>
          <p:cNvSpPr txBox="1"/>
          <p:nvPr/>
        </p:nvSpPr>
        <p:spPr>
          <a:xfrm>
            <a:off x="457200" y="205740"/>
            <a:ext cx="8229600" cy="342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n-CA" sz="3200" u="none" cap="none" strike="noStrike">
                <a:solidFill>
                  <a:srgbClr val="B87333"/>
                </a:solidFill>
                <a:latin typeface="Calibri"/>
                <a:ea typeface="Calibri"/>
                <a:cs typeface="Calibri"/>
                <a:sym typeface="Calibri"/>
              </a:rPr>
              <a:t>WHY FLUXGEN WILL SUCCEED</a:t>
            </a:r>
            <a:endParaRPr b="0" i="0" sz="1400" u="none" cap="none" strike="noStrike">
              <a:solidFill>
                <a:srgbClr val="000000"/>
              </a:solidFill>
              <a:latin typeface="Arial"/>
              <a:ea typeface="Arial"/>
              <a:cs typeface="Arial"/>
              <a:sym typeface="Arial"/>
            </a:endParaRPr>
          </a:p>
        </p:txBody>
      </p:sp>
      <p:sp>
        <p:nvSpPr>
          <p:cNvPr id="128" name="Google Shape;128;p7"/>
          <p:cNvSpPr/>
          <p:nvPr/>
        </p:nvSpPr>
        <p:spPr>
          <a:xfrm>
            <a:off x="731520" y="822960"/>
            <a:ext cx="3840480" cy="1714500"/>
          </a:xfrm>
          <a:prstGeom prst="roundRect">
            <a:avLst>
              <a:gd fmla="val 16667" name="adj"/>
            </a:avLst>
          </a:prstGeom>
          <a:noFill/>
          <a:ln cap="flat" cmpd="sng" w="25400">
            <a:solidFill>
              <a:srgbClr val="B87333"/>
            </a:solidFill>
            <a:prstDash val="solid"/>
            <a:round/>
            <a:headEnd len="sm" w="sm" type="none"/>
            <a:tailEnd len="sm" w="sm" type="none"/>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CA" sz="1400" u="none" cap="none" strike="noStrike">
                <a:solidFill>
                  <a:srgbClr val="B87333"/>
                </a:solidFill>
                <a:latin typeface="Calibri"/>
                <a:ea typeface="Calibri"/>
                <a:cs typeface="Calibri"/>
                <a:sym typeface="Calibri"/>
              </a:rPr>
              <a:t>1. PROVEN TECHNOLOGY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 Production-ready formulations from publicly traded flux manufacturer</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 40 years commercial-scale IP from Jhaveri Weldflux Ltd.</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 NOT in R&amp;D mode — proven, commercial-scale manufacturing</a:t>
            </a:r>
            <a:endParaRPr b="0" i="0" sz="1400" u="none" cap="none" strike="noStrike">
              <a:solidFill>
                <a:srgbClr val="2C3E50"/>
              </a:solidFill>
              <a:latin typeface="Arial"/>
              <a:ea typeface="Arial"/>
              <a:cs typeface="Arial"/>
              <a:sym typeface="Arial"/>
            </a:endParaRPr>
          </a:p>
        </p:txBody>
      </p:sp>
      <p:sp>
        <p:nvSpPr>
          <p:cNvPr id="129" name="Google Shape;129;p7"/>
          <p:cNvSpPr/>
          <p:nvPr/>
        </p:nvSpPr>
        <p:spPr>
          <a:xfrm>
            <a:off x="4937759" y="822960"/>
            <a:ext cx="3840480" cy="1714500"/>
          </a:xfrm>
          <a:prstGeom prst="roundRect">
            <a:avLst>
              <a:gd fmla="val 16667" name="adj"/>
            </a:avLst>
          </a:prstGeom>
          <a:noFill/>
          <a:ln cap="flat" cmpd="sng" w="25400">
            <a:solidFill>
              <a:srgbClr val="B87333"/>
            </a:solidFill>
            <a:prstDash val="solid"/>
            <a:round/>
            <a:headEnd len="sm" w="sm" type="none"/>
            <a:tailEnd len="sm" w="sm" type="none"/>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CA" sz="1400" u="none" cap="none" strike="noStrike">
                <a:solidFill>
                  <a:srgbClr val="B87333"/>
                </a:solidFill>
                <a:latin typeface="Calibri"/>
                <a:ea typeface="Calibri"/>
                <a:cs typeface="Calibri"/>
                <a:sym typeface="Calibri"/>
              </a:rPr>
              <a:t>2. GUARANTEED DEMAND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 100% import dependency = guaranteed customer base</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 11,000 tonnes/year already purchased by Canadian companies</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 Pipeline welding (Alberta's specialty) is core market</a:t>
            </a:r>
            <a:endParaRPr b="0" i="0" sz="1400" u="none" cap="none" strike="noStrike">
              <a:solidFill>
                <a:srgbClr val="2C3E50"/>
              </a:solidFill>
              <a:latin typeface="Arial"/>
              <a:ea typeface="Arial"/>
              <a:cs typeface="Arial"/>
              <a:sym typeface="Arial"/>
            </a:endParaRPr>
          </a:p>
        </p:txBody>
      </p:sp>
      <p:sp>
        <p:nvSpPr>
          <p:cNvPr id="130" name="Google Shape;130;p7"/>
          <p:cNvSpPr/>
          <p:nvPr/>
        </p:nvSpPr>
        <p:spPr>
          <a:xfrm>
            <a:off x="731520" y="2743200"/>
            <a:ext cx="3840480" cy="1714500"/>
          </a:xfrm>
          <a:prstGeom prst="roundRect">
            <a:avLst>
              <a:gd fmla="val 16667" name="adj"/>
            </a:avLst>
          </a:prstGeom>
          <a:noFill/>
          <a:ln cap="flat" cmpd="sng" w="25400">
            <a:solidFill>
              <a:srgbClr val="B87333"/>
            </a:solidFill>
            <a:prstDash val="solid"/>
            <a:round/>
            <a:headEnd len="sm" w="sm" type="none"/>
            <a:tailEnd len="sm" w="sm" type="none"/>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CA" sz="1400" u="none" cap="none" strike="noStrike">
                <a:solidFill>
                  <a:srgbClr val="B87333"/>
                </a:solidFill>
                <a:latin typeface="Calibri"/>
                <a:ea typeface="Calibri"/>
                <a:cs typeface="Calibri"/>
                <a:sym typeface="Calibri"/>
              </a:rPr>
              <a:t>3. EXPERIENCED TEAM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 Pratik: 40+ years family runned flux manufacturing expertise</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 Arpan: Operations/logistics (Loblaws Canada)</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 Abhishek: Sales &amp; marketing specialist</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 Bhargav: Compliance &amp; quality systems</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 Equal  partnership = aligned incentives</a:t>
            </a:r>
            <a:endParaRPr b="0" i="0" sz="1400" u="none" cap="none" strike="noStrike">
              <a:solidFill>
                <a:srgbClr val="2C3E50"/>
              </a:solidFill>
              <a:latin typeface="Arial"/>
              <a:ea typeface="Arial"/>
              <a:cs typeface="Arial"/>
              <a:sym typeface="Arial"/>
            </a:endParaRPr>
          </a:p>
        </p:txBody>
      </p:sp>
      <p:sp>
        <p:nvSpPr>
          <p:cNvPr id="131" name="Google Shape;131;p7"/>
          <p:cNvSpPr/>
          <p:nvPr/>
        </p:nvSpPr>
        <p:spPr>
          <a:xfrm>
            <a:off x="4937759" y="2743200"/>
            <a:ext cx="3840480" cy="1714500"/>
          </a:xfrm>
          <a:prstGeom prst="roundRect">
            <a:avLst>
              <a:gd fmla="val 16667" name="adj"/>
            </a:avLst>
          </a:prstGeom>
          <a:noFill/>
          <a:ln cap="flat" cmpd="sng" w="25400">
            <a:solidFill>
              <a:srgbClr val="B87333"/>
            </a:solidFill>
            <a:prstDash val="solid"/>
            <a:round/>
            <a:headEnd len="sm" w="sm" type="none"/>
            <a:tailEnd len="sm" w="sm" type="none"/>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CA" sz="1400" u="none" cap="none" strike="noStrike">
                <a:solidFill>
                  <a:srgbClr val="B87333"/>
                </a:solidFill>
                <a:latin typeface="Calibri"/>
                <a:ea typeface="Calibri"/>
                <a:cs typeface="Calibri"/>
                <a:sym typeface="Calibri"/>
              </a:rPr>
              <a:t>4. PHASED, LOW-RISK GROWTH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 Year 1-2: Pilot production (800 tonnes) validates market</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 Year 3-4: Scale to 3,000 tonnes as demand validates</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 Year 5-7: Full capacity + export operations</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 Capital raised in stages, not all at once</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000"/>
              <a:buFont typeface="Arial"/>
              <a:buNone/>
            </a:pPr>
            <a:r>
              <a:rPr b="0" i="0" lang="en-CA" sz="1000" u="none" cap="none" strike="noStrike">
                <a:solidFill>
                  <a:srgbClr val="2C3E50"/>
                </a:solidFill>
                <a:latin typeface="Calibri"/>
                <a:ea typeface="Calibri"/>
                <a:cs typeface="Calibri"/>
                <a:sym typeface="Calibri"/>
              </a:rPr>
              <a:t>• Milestone-based expansion de-risks investment</a:t>
            </a:r>
            <a:endParaRPr b="0" i="0" sz="1400" u="none" cap="none" strike="noStrike">
              <a:solidFill>
                <a:srgbClr val="2C3E50"/>
              </a:solidFill>
              <a:latin typeface="Arial"/>
              <a:ea typeface="Arial"/>
              <a:cs typeface="Arial"/>
              <a:sym typeface="Arial"/>
            </a:endParaRPr>
          </a:p>
        </p:txBody>
      </p:sp>
      <p:sp>
        <p:nvSpPr>
          <p:cNvPr id="132" name="Google Shape;132;p7"/>
          <p:cNvSpPr txBox="1"/>
          <p:nvPr/>
        </p:nvSpPr>
        <p:spPr>
          <a:xfrm>
            <a:off x="914400" y="4558509"/>
            <a:ext cx="73152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CA" sz="1600" u="none" cap="none" strike="noStrike">
                <a:solidFill>
                  <a:srgbClr val="B87333"/>
                </a:solidFill>
                <a:latin typeface="Calibri"/>
                <a:ea typeface="Calibri"/>
                <a:cs typeface="Calibri"/>
                <a:sym typeface="Calibri"/>
              </a:rPr>
              <a:t>Most startups fail because they're trying to invent something OR find a market. We have neither problem.</a:t>
            </a:r>
            <a:endParaRPr b="0" i="0" sz="1400" u="none" cap="none" strike="noStrike">
              <a:solidFill>
                <a:srgbClr val="000000"/>
              </a:solidFill>
              <a:latin typeface="Arial"/>
              <a:ea typeface="Arial"/>
              <a:cs typeface="Arial"/>
              <a:sym typeface="Arial"/>
            </a:endParaRPr>
          </a:p>
        </p:txBody>
      </p:sp>
      <p:pic>
        <p:nvPicPr>
          <p:cNvPr descr="fluxgen-logo-monogram.png" id="133" name="Google Shape;133;p7"/>
          <p:cNvPicPr preferRelativeResize="0"/>
          <p:nvPr/>
        </p:nvPicPr>
        <p:blipFill rotWithShape="1">
          <a:blip r:embed="rId3">
            <a:alphaModFix/>
          </a:blip>
          <a:srcRect b="0" l="0" r="0" t="0"/>
          <a:stretch/>
        </p:blipFill>
        <p:spPr>
          <a:xfrm>
            <a:off x="8412480" y="4800600"/>
            <a:ext cx="274320" cy="27432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7" name="Shape 137"/>
        <p:cNvGrpSpPr/>
        <p:nvPr/>
      </p:nvGrpSpPr>
      <p:grpSpPr>
        <a:xfrm>
          <a:off x="0" y="0"/>
          <a:ext cx="0" cy="0"/>
          <a:chOff x="0" y="0"/>
          <a:chExt cx="0" cy="0"/>
        </a:xfrm>
      </p:grpSpPr>
      <p:sp>
        <p:nvSpPr>
          <p:cNvPr id="138" name="Google Shape;138;p8"/>
          <p:cNvSpPr txBox="1"/>
          <p:nvPr/>
        </p:nvSpPr>
        <p:spPr>
          <a:xfrm>
            <a:off x="457200" y="57406"/>
            <a:ext cx="8229600" cy="100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800"/>
              <a:buFont typeface="Arial"/>
              <a:buNone/>
            </a:pPr>
            <a:r>
              <a:rPr b="1" i="0" lang="en-CA" sz="3800" u="none" cap="none" strike="noStrike">
                <a:solidFill>
                  <a:srgbClr val="B87333"/>
                </a:solidFill>
                <a:latin typeface="Calibri"/>
                <a:ea typeface="Calibri"/>
                <a:cs typeface="Calibri"/>
                <a:sym typeface="Calibri"/>
              </a:rPr>
              <a:t>🇨🇦 CANADA'S FIRST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400"/>
              </a:spcBef>
              <a:spcAft>
                <a:spcPts val="0"/>
              </a:spcAft>
              <a:buClr>
                <a:srgbClr val="000000"/>
              </a:buClr>
              <a:buSzPts val="1800"/>
              <a:buFont typeface="Arial"/>
              <a:buNone/>
            </a:pPr>
            <a:r>
              <a:rPr b="0" i="0" lang="en-CA" sz="1800" u="none" cap="none" strike="noStrike">
                <a:solidFill>
                  <a:srgbClr val="2C3E50"/>
                </a:solidFill>
                <a:latin typeface="Calibri"/>
                <a:ea typeface="Calibri"/>
                <a:cs typeface="Calibri"/>
                <a:sym typeface="Calibri"/>
              </a:rPr>
              <a:t>SAW Flux Manufacturer | Airdrie, Alberta</a:t>
            </a:r>
            <a:endParaRPr b="0" i="0" sz="1400" u="none" cap="none" strike="noStrike">
              <a:solidFill>
                <a:srgbClr val="2C3E50"/>
              </a:solidFill>
              <a:latin typeface="Arial"/>
              <a:ea typeface="Arial"/>
              <a:cs typeface="Arial"/>
              <a:sym typeface="Arial"/>
            </a:endParaRPr>
          </a:p>
        </p:txBody>
      </p:sp>
      <p:sp>
        <p:nvSpPr>
          <p:cNvPr id="139" name="Google Shape;139;p8"/>
          <p:cNvSpPr txBox="1"/>
          <p:nvPr/>
        </p:nvSpPr>
        <p:spPr>
          <a:xfrm>
            <a:off x="731520" y="1097280"/>
            <a:ext cx="7680900" cy="723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CA" sz="1400" u="none" cap="none" strike="noStrike">
                <a:solidFill>
                  <a:srgbClr val="B87333"/>
                </a:solidFill>
                <a:latin typeface="Calibri"/>
                <a:ea typeface="Calibri"/>
                <a:cs typeface="Calibri"/>
                <a:sym typeface="Calibri"/>
              </a:rPr>
              <a:t>📰 MEDIA COVERAGE &amp; BRAND VISIBILITY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100"/>
              <a:buFont typeface="Arial"/>
              <a:buNone/>
            </a:pPr>
            <a:r>
              <a:rPr b="0" i="0" lang="en-CA" sz="1100" u="none" cap="none" strike="noStrike">
                <a:solidFill>
                  <a:srgbClr val="2C3E50"/>
                </a:solidFill>
                <a:latin typeface="Calibri"/>
                <a:ea typeface="Calibri"/>
                <a:cs typeface="Calibri"/>
                <a:sym typeface="Calibri"/>
              </a:rPr>
              <a:t>• Every trade publication mentions 'Airdrie, Alberta' as headquarters</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100"/>
              <a:buFont typeface="Arial"/>
              <a:buNone/>
            </a:pPr>
            <a:r>
              <a:rPr b="0" i="0" lang="en-CA" sz="1100" u="none" cap="none" strike="noStrike">
                <a:solidFill>
                  <a:srgbClr val="2C3E50"/>
                </a:solidFill>
                <a:latin typeface="Calibri"/>
                <a:ea typeface="Calibri"/>
                <a:cs typeface="Calibri"/>
                <a:sym typeface="Calibri"/>
              </a:rPr>
              <a:t>• IPO coverage (Year 7) = TSX listing with 'Airdrie HQ' in prospectus</a:t>
            </a:r>
            <a:endParaRPr b="0" i="0" sz="1400" u="none" cap="none" strike="noStrike">
              <a:solidFill>
                <a:srgbClr val="2C3E50"/>
              </a:solidFill>
              <a:latin typeface="Arial"/>
              <a:ea typeface="Arial"/>
              <a:cs typeface="Arial"/>
              <a:sym typeface="Arial"/>
            </a:endParaRPr>
          </a:p>
        </p:txBody>
      </p:sp>
      <p:sp>
        <p:nvSpPr>
          <p:cNvPr id="140" name="Google Shape;140;p8"/>
          <p:cNvSpPr txBox="1"/>
          <p:nvPr/>
        </p:nvSpPr>
        <p:spPr>
          <a:xfrm>
            <a:off x="731520" y="1820565"/>
            <a:ext cx="7680900" cy="931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CA" sz="1400" u="none" cap="none" strike="noStrike">
                <a:solidFill>
                  <a:srgbClr val="B87333"/>
                </a:solidFill>
                <a:latin typeface="Calibri"/>
                <a:ea typeface="Calibri"/>
                <a:cs typeface="Calibri"/>
                <a:sym typeface="Calibri"/>
              </a:rPr>
              <a:t>🏆 INDUSTRY RECOGNITION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100"/>
              <a:buFont typeface="Arial"/>
              <a:buNone/>
            </a:pPr>
            <a:r>
              <a:rPr b="0" i="0" lang="en-CA" sz="1100" u="none" cap="none" strike="noStrike">
                <a:solidFill>
                  <a:srgbClr val="2C3E50"/>
                </a:solidFill>
                <a:latin typeface="Calibri"/>
                <a:ea typeface="Calibri"/>
                <a:cs typeface="Calibri"/>
                <a:sym typeface="Calibri"/>
              </a:rPr>
              <a:t>• CWB Association and AWS conference presentations</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100"/>
              <a:buFont typeface="Arial"/>
              <a:buNone/>
            </a:pPr>
            <a:r>
              <a:rPr b="0" i="0" lang="en-CA" sz="1100" u="none" cap="none" strike="noStrike">
                <a:solidFill>
                  <a:srgbClr val="2C3E50"/>
                </a:solidFill>
                <a:latin typeface="Calibri"/>
                <a:ea typeface="Calibri"/>
                <a:cs typeface="Calibri"/>
                <a:sym typeface="Calibri"/>
              </a:rPr>
              <a:t>• How Airdrie became Canada's flux manufacturing hub</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100"/>
              <a:buFont typeface="Arial"/>
              <a:buNone/>
            </a:pPr>
            <a:r>
              <a:rPr b="0" i="0" lang="en-CA" sz="1100" u="none" cap="none" strike="noStrike">
                <a:solidFill>
                  <a:srgbClr val="2C3E50"/>
                </a:solidFill>
                <a:latin typeface="Calibri"/>
                <a:ea typeface="Calibri"/>
                <a:cs typeface="Calibri"/>
                <a:sym typeface="Calibri"/>
              </a:rPr>
              <a:t>• Economic development case study for other municipalities</a:t>
            </a:r>
            <a:endParaRPr b="0" i="0" sz="1400" u="none" cap="none" strike="noStrike">
              <a:solidFill>
                <a:srgbClr val="2C3E50"/>
              </a:solidFill>
              <a:latin typeface="Arial"/>
              <a:ea typeface="Arial"/>
              <a:cs typeface="Arial"/>
              <a:sym typeface="Arial"/>
            </a:endParaRPr>
          </a:p>
        </p:txBody>
      </p:sp>
      <p:sp>
        <p:nvSpPr>
          <p:cNvPr id="141" name="Google Shape;141;p8"/>
          <p:cNvSpPr txBox="1"/>
          <p:nvPr/>
        </p:nvSpPr>
        <p:spPr>
          <a:xfrm>
            <a:off x="731520" y="2743200"/>
            <a:ext cx="7680900" cy="931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CA" sz="1400" u="none" cap="none" strike="noStrike">
                <a:solidFill>
                  <a:srgbClr val="B87333"/>
                </a:solidFill>
                <a:latin typeface="Calibri"/>
                <a:ea typeface="Calibri"/>
                <a:cs typeface="Calibri"/>
                <a:sym typeface="Calibri"/>
              </a:rPr>
              <a:t>🌍 CLUSTER EFFECT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100"/>
              <a:buFont typeface="Arial"/>
              <a:buNone/>
            </a:pPr>
            <a:r>
              <a:rPr b="0" i="0" lang="en-CA" sz="1100" u="none" cap="none" strike="noStrike">
                <a:solidFill>
                  <a:srgbClr val="2C3E50"/>
                </a:solidFill>
                <a:latin typeface="Calibri"/>
                <a:ea typeface="Calibri"/>
                <a:cs typeface="Calibri"/>
                <a:sym typeface="Calibri"/>
              </a:rPr>
              <a:t>• Flux-cored wire manufacturers want to be near flux supplier</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100"/>
              <a:buFont typeface="Arial"/>
              <a:buNone/>
            </a:pPr>
            <a:r>
              <a:rPr b="0" i="0" lang="en-CA" sz="1100" u="none" cap="none" strike="noStrike">
                <a:solidFill>
                  <a:srgbClr val="2C3E50"/>
                </a:solidFill>
                <a:latin typeface="Calibri"/>
                <a:ea typeface="Calibri"/>
                <a:cs typeface="Calibri"/>
                <a:sym typeface="Calibri"/>
              </a:rPr>
              <a:t>• Welding electrode suppliers seek co-location</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100"/>
              <a:buFont typeface="Arial"/>
              <a:buNone/>
            </a:pPr>
            <a:r>
              <a:rPr b="0" i="0" lang="en-CA" sz="1100" u="none" cap="none" strike="noStrike">
                <a:solidFill>
                  <a:srgbClr val="2C3E50"/>
                </a:solidFill>
                <a:latin typeface="Calibri"/>
                <a:ea typeface="Calibri"/>
                <a:cs typeface="Calibri"/>
                <a:sym typeface="Calibri"/>
              </a:rPr>
              <a:t>• Creates 'advanced manufacturing cluster' in Airdrie</a:t>
            </a:r>
            <a:endParaRPr b="0" i="0" sz="1400" u="none" cap="none" strike="noStrike">
              <a:solidFill>
                <a:srgbClr val="2C3E50"/>
              </a:solidFill>
              <a:latin typeface="Arial"/>
              <a:ea typeface="Arial"/>
              <a:cs typeface="Arial"/>
              <a:sym typeface="Arial"/>
            </a:endParaRPr>
          </a:p>
        </p:txBody>
      </p:sp>
      <p:sp>
        <p:nvSpPr>
          <p:cNvPr id="142" name="Google Shape;142;p8"/>
          <p:cNvSpPr txBox="1"/>
          <p:nvPr/>
        </p:nvSpPr>
        <p:spPr>
          <a:xfrm>
            <a:off x="731520" y="3669035"/>
            <a:ext cx="7680900" cy="931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CA" sz="1400" u="none" cap="none" strike="noStrike">
                <a:solidFill>
                  <a:srgbClr val="B87333"/>
                </a:solidFill>
                <a:latin typeface="Calibri"/>
                <a:ea typeface="Calibri"/>
                <a:cs typeface="Calibri"/>
                <a:sym typeface="Calibri"/>
              </a:rPr>
              <a:t>💼 FEDERAL/PROVINCIAL ATTENTION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100"/>
              <a:buFont typeface="Arial"/>
              <a:buNone/>
            </a:pPr>
            <a:r>
              <a:rPr b="0" i="0" lang="en-CA" sz="1100" u="none" cap="none" strike="noStrike">
                <a:solidFill>
                  <a:srgbClr val="2C3E50"/>
                </a:solidFill>
                <a:latin typeface="Calibri"/>
                <a:ea typeface="Calibri"/>
                <a:cs typeface="Calibri"/>
                <a:sym typeface="Calibri"/>
              </a:rPr>
              <a:t>• Ministerial visits and funding announcements</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100"/>
              <a:buFont typeface="Arial"/>
              <a:buNone/>
            </a:pPr>
            <a:r>
              <a:rPr b="0" i="0" lang="en-CA" sz="1100" u="none" cap="none" strike="noStrike">
                <a:solidFill>
                  <a:srgbClr val="2C3E50"/>
                </a:solidFill>
                <a:latin typeface="Calibri"/>
                <a:ea typeface="Calibri"/>
                <a:cs typeface="Calibri"/>
                <a:sym typeface="Calibri"/>
              </a:rPr>
              <a:t>• Priority for pilot programs and grant initiatives</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100"/>
              <a:buFont typeface="Arial"/>
              <a:buNone/>
            </a:pPr>
            <a:r>
              <a:rPr b="0" i="0" lang="en-CA" sz="1100" u="none" cap="none" strike="noStrike">
                <a:solidFill>
                  <a:srgbClr val="2C3E50"/>
                </a:solidFill>
                <a:latin typeface="Calibri"/>
                <a:ea typeface="Calibri"/>
                <a:cs typeface="Calibri"/>
                <a:sym typeface="Calibri"/>
              </a:rPr>
              <a:t>• Media events with elected officials</a:t>
            </a:r>
            <a:endParaRPr b="0" i="0" sz="1400" u="none" cap="none" strike="noStrike">
              <a:solidFill>
                <a:srgbClr val="2C3E50"/>
              </a:solidFill>
              <a:latin typeface="Arial"/>
              <a:ea typeface="Arial"/>
              <a:cs typeface="Arial"/>
              <a:sym typeface="Arial"/>
            </a:endParaRPr>
          </a:p>
        </p:txBody>
      </p:sp>
      <p:sp>
        <p:nvSpPr>
          <p:cNvPr id="143" name="Google Shape;143;p8"/>
          <p:cNvSpPr txBox="1"/>
          <p:nvPr/>
        </p:nvSpPr>
        <p:spPr>
          <a:xfrm>
            <a:off x="914400" y="4594851"/>
            <a:ext cx="7315200" cy="605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CA" sz="1600" u="none" cap="none" strike="noStrike">
                <a:solidFill>
                  <a:srgbClr val="B87333"/>
                </a:solidFill>
                <a:latin typeface="Calibri"/>
                <a:ea typeface="Calibri"/>
                <a:cs typeface="Calibri"/>
                <a:sym typeface="Calibri"/>
              </a:rPr>
              <a:t>AIRDRIE BECOMES SYNONYMOUS WITH ADVANCED MANUFACTURING IN CANADA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400"/>
              </a:spcBef>
              <a:spcAft>
                <a:spcPts val="0"/>
              </a:spcAft>
              <a:buClr>
                <a:srgbClr val="000000"/>
              </a:buClr>
              <a:buSzPts val="1400"/>
              <a:buFont typeface="Arial"/>
              <a:buNone/>
            </a:pPr>
            <a:r>
              <a:rPr b="0" i="0" lang="en-CA" sz="1400" u="none" cap="none" strike="noStrike">
                <a:solidFill>
                  <a:srgbClr val="2C3E50"/>
                </a:solidFill>
                <a:latin typeface="Calibri"/>
                <a:ea typeface="Calibri"/>
                <a:cs typeface="Calibri"/>
                <a:sym typeface="Calibri"/>
              </a:rPr>
              <a:t>That's permanent brand equity you can't buy with advertising.</a:t>
            </a:r>
            <a:endParaRPr b="0" i="0" sz="1400" u="none" cap="none" strike="noStrike">
              <a:solidFill>
                <a:srgbClr val="2C3E50"/>
              </a:solidFill>
              <a:latin typeface="Arial"/>
              <a:ea typeface="Arial"/>
              <a:cs typeface="Arial"/>
              <a:sym typeface="Arial"/>
            </a:endParaRPr>
          </a:p>
        </p:txBody>
      </p:sp>
      <p:pic>
        <p:nvPicPr>
          <p:cNvPr descr="fluxgen-logo-monogram.png" id="144" name="Google Shape;144;p8"/>
          <p:cNvPicPr preferRelativeResize="0"/>
          <p:nvPr/>
        </p:nvPicPr>
        <p:blipFill rotWithShape="1">
          <a:blip r:embed="rId3">
            <a:alphaModFix/>
          </a:blip>
          <a:srcRect b="0" l="0" r="0" t="0"/>
          <a:stretch/>
        </p:blipFill>
        <p:spPr>
          <a:xfrm>
            <a:off x="8412480" y="4800600"/>
            <a:ext cx="274320" cy="27432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8" name="Shape 148"/>
        <p:cNvGrpSpPr/>
        <p:nvPr/>
      </p:nvGrpSpPr>
      <p:grpSpPr>
        <a:xfrm>
          <a:off x="0" y="0"/>
          <a:ext cx="0" cy="0"/>
          <a:chOff x="0" y="0"/>
          <a:chExt cx="0" cy="0"/>
        </a:xfrm>
      </p:grpSpPr>
      <p:sp>
        <p:nvSpPr>
          <p:cNvPr id="149" name="Google Shape;149;p9"/>
          <p:cNvSpPr txBox="1"/>
          <p:nvPr/>
        </p:nvSpPr>
        <p:spPr>
          <a:xfrm>
            <a:off x="457200" y="205740"/>
            <a:ext cx="8229600" cy="342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CA" sz="2400" u="none" cap="none" strike="noStrike">
                <a:solidFill>
                  <a:srgbClr val="B87333"/>
                </a:solidFill>
                <a:latin typeface="Calibri"/>
                <a:ea typeface="Calibri"/>
                <a:cs typeface="Calibri"/>
                <a:sym typeface="Calibri"/>
              </a:rPr>
              <a:t>PROJECT TIMELINE: LAND COMMITMENT TO PRODUCTION</a:t>
            </a:r>
            <a:endParaRPr b="0" i="0" sz="1400" u="none" cap="none" strike="noStrike">
              <a:solidFill>
                <a:srgbClr val="000000"/>
              </a:solidFill>
              <a:latin typeface="Arial"/>
              <a:ea typeface="Arial"/>
              <a:cs typeface="Arial"/>
              <a:sym typeface="Arial"/>
            </a:endParaRPr>
          </a:p>
        </p:txBody>
      </p:sp>
      <p:sp>
        <p:nvSpPr>
          <p:cNvPr id="150" name="Google Shape;150;p9"/>
          <p:cNvSpPr/>
          <p:nvPr/>
        </p:nvSpPr>
        <p:spPr>
          <a:xfrm>
            <a:off x="731520" y="822960"/>
            <a:ext cx="1645920" cy="342900"/>
          </a:xfrm>
          <a:prstGeom prst="roundRect">
            <a:avLst>
              <a:gd fmla="val 16667" name="adj"/>
            </a:avLst>
          </a:prstGeom>
          <a:solidFill>
            <a:srgbClr val="B87333"/>
          </a:solidFill>
          <a:ln>
            <a:noFill/>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CA" sz="1300" u="none" cap="none" strike="noStrike">
                <a:solidFill>
                  <a:srgbClr val="2C3E50"/>
                </a:solidFill>
                <a:latin typeface="Calibri"/>
                <a:ea typeface="Calibri"/>
                <a:cs typeface="Calibri"/>
                <a:sym typeface="Calibri"/>
              </a:rPr>
              <a:t>DEC 2025</a:t>
            </a:r>
            <a:endParaRPr b="0" i="0" sz="1400" u="none" cap="none" strike="noStrike">
              <a:solidFill>
                <a:srgbClr val="000000"/>
              </a:solidFill>
              <a:latin typeface="Arial"/>
              <a:ea typeface="Arial"/>
              <a:cs typeface="Arial"/>
              <a:sym typeface="Arial"/>
            </a:endParaRPr>
          </a:p>
        </p:txBody>
      </p:sp>
      <p:sp>
        <p:nvSpPr>
          <p:cNvPr id="151" name="Google Shape;151;p9"/>
          <p:cNvSpPr txBox="1"/>
          <p:nvPr/>
        </p:nvSpPr>
        <p:spPr>
          <a:xfrm>
            <a:off x="2560320" y="822960"/>
            <a:ext cx="5852100" cy="2925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en-CA" sz="1300" u="none" cap="none" strike="noStrike">
                <a:solidFill>
                  <a:srgbClr val="2C3E50"/>
                </a:solidFill>
                <a:latin typeface="Calibri"/>
                <a:ea typeface="Calibri"/>
                <a:cs typeface="Calibri"/>
                <a:sym typeface="Calibri"/>
              </a:rPr>
              <a:t>EDO Meeting + Partnership Discussion</a:t>
            </a:r>
            <a:endParaRPr b="0" i="0" sz="1400" u="none" cap="none" strike="noStrike">
              <a:solidFill>
                <a:srgbClr val="2C3E50"/>
              </a:solidFill>
              <a:latin typeface="Arial"/>
              <a:ea typeface="Arial"/>
              <a:cs typeface="Arial"/>
              <a:sym typeface="Arial"/>
            </a:endParaRPr>
          </a:p>
        </p:txBody>
      </p:sp>
      <p:sp>
        <p:nvSpPr>
          <p:cNvPr id="152" name="Google Shape;152;p9"/>
          <p:cNvSpPr/>
          <p:nvPr/>
        </p:nvSpPr>
        <p:spPr>
          <a:xfrm>
            <a:off x="731520" y="1248155"/>
            <a:ext cx="1645920" cy="342900"/>
          </a:xfrm>
          <a:prstGeom prst="roundRect">
            <a:avLst>
              <a:gd fmla="val 16667" name="adj"/>
            </a:avLst>
          </a:prstGeom>
          <a:solidFill>
            <a:srgbClr val="B87333"/>
          </a:solidFill>
          <a:ln>
            <a:noFill/>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CA" sz="1300" u="none" cap="none" strike="noStrike">
                <a:solidFill>
                  <a:srgbClr val="2C3E50"/>
                </a:solidFill>
                <a:latin typeface="Calibri"/>
                <a:ea typeface="Calibri"/>
                <a:cs typeface="Calibri"/>
                <a:sym typeface="Calibri"/>
              </a:rPr>
              <a:t>Q1 2026</a:t>
            </a:r>
            <a:endParaRPr b="0" i="0" sz="1400" u="none" cap="none" strike="noStrike">
              <a:solidFill>
                <a:srgbClr val="000000"/>
              </a:solidFill>
              <a:latin typeface="Arial"/>
              <a:ea typeface="Arial"/>
              <a:cs typeface="Arial"/>
              <a:sym typeface="Arial"/>
            </a:endParaRPr>
          </a:p>
        </p:txBody>
      </p:sp>
      <p:sp>
        <p:nvSpPr>
          <p:cNvPr id="153" name="Google Shape;153;p9"/>
          <p:cNvSpPr txBox="1"/>
          <p:nvPr/>
        </p:nvSpPr>
        <p:spPr>
          <a:xfrm>
            <a:off x="2560320" y="1248155"/>
            <a:ext cx="5852100" cy="2925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en-CA" sz="1300" u="none" cap="none" strike="noStrike">
                <a:solidFill>
                  <a:srgbClr val="2C3E50"/>
                </a:solidFill>
                <a:latin typeface="Calibri"/>
                <a:ea typeface="Calibri"/>
                <a:cs typeface="Calibri"/>
                <a:sym typeface="Calibri"/>
              </a:rPr>
              <a:t>Land commitment + Federal grant applications</a:t>
            </a:r>
            <a:endParaRPr b="0" i="0" sz="1400" u="none" cap="none" strike="noStrike">
              <a:solidFill>
                <a:srgbClr val="2C3E50"/>
              </a:solidFill>
              <a:latin typeface="Arial"/>
              <a:ea typeface="Arial"/>
              <a:cs typeface="Arial"/>
              <a:sym typeface="Arial"/>
            </a:endParaRPr>
          </a:p>
        </p:txBody>
      </p:sp>
      <p:sp>
        <p:nvSpPr>
          <p:cNvPr id="154" name="Google Shape;154;p9"/>
          <p:cNvSpPr/>
          <p:nvPr/>
        </p:nvSpPr>
        <p:spPr>
          <a:xfrm>
            <a:off x="731520" y="1673352"/>
            <a:ext cx="1645920" cy="342900"/>
          </a:xfrm>
          <a:prstGeom prst="roundRect">
            <a:avLst>
              <a:gd fmla="val 16667" name="adj"/>
            </a:avLst>
          </a:prstGeom>
          <a:solidFill>
            <a:srgbClr val="C0C0C0"/>
          </a:solidFill>
          <a:ln>
            <a:noFill/>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CA" sz="1300" u="none" cap="none" strike="noStrike">
                <a:solidFill>
                  <a:srgbClr val="2C3E50"/>
                </a:solidFill>
                <a:latin typeface="Calibri"/>
                <a:ea typeface="Calibri"/>
                <a:cs typeface="Calibri"/>
                <a:sym typeface="Calibri"/>
              </a:rPr>
              <a:t>Q2-Q3 2026</a:t>
            </a:r>
            <a:endParaRPr b="0" i="0" sz="1400" u="none" cap="none" strike="noStrike">
              <a:solidFill>
                <a:srgbClr val="000000"/>
              </a:solidFill>
              <a:latin typeface="Arial"/>
              <a:ea typeface="Arial"/>
              <a:cs typeface="Arial"/>
              <a:sym typeface="Arial"/>
            </a:endParaRPr>
          </a:p>
        </p:txBody>
      </p:sp>
      <p:sp>
        <p:nvSpPr>
          <p:cNvPr id="155" name="Google Shape;155;p9"/>
          <p:cNvSpPr txBox="1"/>
          <p:nvPr/>
        </p:nvSpPr>
        <p:spPr>
          <a:xfrm>
            <a:off x="2560320" y="1673352"/>
            <a:ext cx="5852100" cy="2925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en-CA" sz="1300" u="none" cap="none" strike="noStrike">
                <a:solidFill>
                  <a:srgbClr val="2C3E50"/>
                </a:solidFill>
                <a:latin typeface="Calibri"/>
                <a:ea typeface="Calibri"/>
                <a:cs typeface="Calibri"/>
                <a:sym typeface="Calibri"/>
              </a:rPr>
              <a:t>Land finalized + Site preparation begins</a:t>
            </a:r>
            <a:endParaRPr b="0" i="0" sz="1400" u="none" cap="none" strike="noStrike">
              <a:solidFill>
                <a:srgbClr val="2C3E50"/>
              </a:solidFill>
              <a:latin typeface="Arial"/>
              <a:ea typeface="Arial"/>
              <a:cs typeface="Arial"/>
              <a:sym typeface="Arial"/>
            </a:endParaRPr>
          </a:p>
        </p:txBody>
      </p:sp>
      <p:sp>
        <p:nvSpPr>
          <p:cNvPr id="156" name="Google Shape;156;p9"/>
          <p:cNvSpPr/>
          <p:nvPr/>
        </p:nvSpPr>
        <p:spPr>
          <a:xfrm>
            <a:off x="731520" y="2098548"/>
            <a:ext cx="1645920" cy="342900"/>
          </a:xfrm>
          <a:prstGeom prst="roundRect">
            <a:avLst>
              <a:gd fmla="val 16667" name="adj"/>
            </a:avLst>
          </a:prstGeom>
          <a:solidFill>
            <a:srgbClr val="C0C0C0"/>
          </a:solidFill>
          <a:ln>
            <a:noFill/>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CA" sz="1300" u="none" cap="none" strike="noStrike">
                <a:solidFill>
                  <a:srgbClr val="2C3E50"/>
                </a:solidFill>
                <a:latin typeface="Calibri"/>
                <a:ea typeface="Calibri"/>
                <a:cs typeface="Calibri"/>
                <a:sym typeface="Calibri"/>
              </a:rPr>
              <a:t>Q4 2026</a:t>
            </a:r>
            <a:endParaRPr b="0" i="0" sz="1400" u="none" cap="none" strike="noStrike">
              <a:solidFill>
                <a:srgbClr val="000000"/>
              </a:solidFill>
              <a:latin typeface="Arial"/>
              <a:ea typeface="Arial"/>
              <a:cs typeface="Arial"/>
              <a:sym typeface="Arial"/>
            </a:endParaRPr>
          </a:p>
        </p:txBody>
      </p:sp>
      <p:sp>
        <p:nvSpPr>
          <p:cNvPr id="157" name="Google Shape;157;p9"/>
          <p:cNvSpPr txBox="1"/>
          <p:nvPr/>
        </p:nvSpPr>
        <p:spPr>
          <a:xfrm>
            <a:off x="2560320" y="2098548"/>
            <a:ext cx="5852100" cy="2925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en-CA" sz="1300" u="none" cap="none" strike="noStrike">
                <a:solidFill>
                  <a:srgbClr val="2C3E50"/>
                </a:solidFill>
                <a:latin typeface="Calibri"/>
                <a:ea typeface="Calibri"/>
                <a:cs typeface="Calibri"/>
                <a:sym typeface="Calibri"/>
              </a:rPr>
              <a:t>Facility design + Building permits</a:t>
            </a:r>
            <a:endParaRPr b="0" i="0" sz="1400" u="none" cap="none" strike="noStrike">
              <a:solidFill>
                <a:srgbClr val="2C3E50"/>
              </a:solidFill>
              <a:latin typeface="Arial"/>
              <a:ea typeface="Arial"/>
              <a:cs typeface="Arial"/>
              <a:sym typeface="Arial"/>
            </a:endParaRPr>
          </a:p>
        </p:txBody>
      </p:sp>
      <p:sp>
        <p:nvSpPr>
          <p:cNvPr id="158" name="Google Shape;158;p9"/>
          <p:cNvSpPr/>
          <p:nvPr/>
        </p:nvSpPr>
        <p:spPr>
          <a:xfrm>
            <a:off x="731520" y="2523744"/>
            <a:ext cx="1645920" cy="342900"/>
          </a:xfrm>
          <a:prstGeom prst="roundRect">
            <a:avLst>
              <a:gd fmla="val 16667" name="adj"/>
            </a:avLst>
          </a:prstGeom>
          <a:solidFill>
            <a:srgbClr val="C0C0C0"/>
          </a:solidFill>
          <a:ln>
            <a:noFill/>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CA" sz="1300" u="none" cap="none" strike="noStrike">
                <a:solidFill>
                  <a:srgbClr val="2C3E50"/>
                </a:solidFill>
                <a:latin typeface="Calibri"/>
                <a:ea typeface="Calibri"/>
                <a:cs typeface="Calibri"/>
                <a:sym typeface="Calibri"/>
              </a:rPr>
              <a:t>Q1-Q2 2027</a:t>
            </a:r>
            <a:endParaRPr b="0" i="0" sz="1400" u="none" cap="none" strike="noStrike">
              <a:solidFill>
                <a:srgbClr val="000000"/>
              </a:solidFill>
              <a:latin typeface="Arial"/>
              <a:ea typeface="Arial"/>
              <a:cs typeface="Arial"/>
              <a:sym typeface="Arial"/>
            </a:endParaRPr>
          </a:p>
        </p:txBody>
      </p:sp>
      <p:sp>
        <p:nvSpPr>
          <p:cNvPr id="159" name="Google Shape;159;p9"/>
          <p:cNvSpPr txBox="1"/>
          <p:nvPr/>
        </p:nvSpPr>
        <p:spPr>
          <a:xfrm>
            <a:off x="2560320" y="2523744"/>
            <a:ext cx="5852100" cy="2925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en-CA" sz="1300" u="none" cap="none" strike="noStrike">
                <a:solidFill>
                  <a:srgbClr val="2C3E50"/>
                </a:solidFill>
                <a:latin typeface="Calibri"/>
                <a:ea typeface="Calibri"/>
                <a:cs typeface="Calibri"/>
                <a:sym typeface="Calibri"/>
              </a:rPr>
              <a:t>Construction begins + Equipment delivery</a:t>
            </a:r>
            <a:endParaRPr b="0" i="0" sz="1400" u="none" cap="none" strike="noStrike">
              <a:solidFill>
                <a:srgbClr val="2C3E50"/>
              </a:solidFill>
              <a:latin typeface="Arial"/>
              <a:ea typeface="Arial"/>
              <a:cs typeface="Arial"/>
              <a:sym typeface="Arial"/>
            </a:endParaRPr>
          </a:p>
        </p:txBody>
      </p:sp>
      <p:sp>
        <p:nvSpPr>
          <p:cNvPr id="160" name="Google Shape;160;p9"/>
          <p:cNvSpPr/>
          <p:nvPr/>
        </p:nvSpPr>
        <p:spPr>
          <a:xfrm>
            <a:off x="731520" y="2948940"/>
            <a:ext cx="1645920" cy="342900"/>
          </a:xfrm>
          <a:prstGeom prst="roundRect">
            <a:avLst>
              <a:gd fmla="val 16667" name="adj"/>
            </a:avLst>
          </a:prstGeom>
          <a:solidFill>
            <a:srgbClr val="C0C0C0"/>
          </a:solidFill>
          <a:ln>
            <a:noFill/>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CA" sz="1300" u="none" cap="none" strike="noStrike">
                <a:solidFill>
                  <a:srgbClr val="2C3E50"/>
                </a:solidFill>
                <a:latin typeface="Calibri"/>
                <a:ea typeface="Calibri"/>
                <a:cs typeface="Calibri"/>
                <a:sym typeface="Calibri"/>
              </a:rPr>
              <a:t>Q3 2027-Q2 2028</a:t>
            </a:r>
            <a:endParaRPr b="0" i="0" sz="1400" u="none" cap="none" strike="noStrike">
              <a:solidFill>
                <a:srgbClr val="000000"/>
              </a:solidFill>
              <a:latin typeface="Arial"/>
              <a:ea typeface="Arial"/>
              <a:cs typeface="Arial"/>
              <a:sym typeface="Arial"/>
            </a:endParaRPr>
          </a:p>
        </p:txBody>
      </p:sp>
      <p:sp>
        <p:nvSpPr>
          <p:cNvPr id="161" name="Google Shape;161;p9"/>
          <p:cNvSpPr txBox="1"/>
          <p:nvPr/>
        </p:nvSpPr>
        <p:spPr>
          <a:xfrm>
            <a:off x="2560320" y="2948940"/>
            <a:ext cx="5852100" cy="2925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en-CA" sz="1300" u="none" cap="none" strike="noStrike">
                <a:solidFill>
                  <a:srgbClr val="2C3E50"/>
                </a:solidFill>
                <a:latin typeface="Calibri"/>
                <a:ea typeface="Calibri"/>
                <a:cs typeface="Calibri"/>
                <a:sym typeface="Calibri"/>
              </a:rPr>
              <a:t>Equipment installation + AWS certification</a:t>
            </a:r>
            <a:endParaRPr b="0" i="0" sz="1400" u="none" cap="none" strike="noStrike">
              <a:solidFill>
                <a:srgbClr val="2C3E50"/>
              </a:solidFill>
              <a:latin typeface="Arial"/>
              <a:ea typeface="Arial"/>
              <a:cs typeface="Arial"/>
              <a:sym typeface="Arial"/>
            </a:endParaRPr>
          </a:p>
        </p:txBody>
      </p:sp>
      <p:sp>
        <p:nvSpPr>
          <p:cNvPr id="162" name="Google Shape;162;p9"/>
          <p:cNvSpPr/>
          <p:nvPr/>
        </p:nvSpPr>
        <p:spPr>
          <a:xfrm>
            <a:off x="731520" y="3374136"/>
            <a:ext cx="1645920" cy="342900"/>
          </a:xfrm>
          <a:prstGeom prst="roundRect">
            <a:avLst>
              <a:gd fmla="val 16667" name="adj"/>
            </a:avLst>
          </a:prstGeom>
          <a:solidFill>
            <a:srgbClr val="B87333"/>
          </a:solidFill>
          <a:ln>
            <a:noFill/>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CA" sz="1300" u="none" cap="none" strike="noStrike">
                <a:solidFill>
                  <a:srgbClr val="2C3E50"/>
                </a:solidFill>
                <a:latin typeface="Calibri"/>
                <a:ea typeface="Calibri"/>
                <a:cs typeface="Calibri"/>
                <a:sym typeface="Calibri"/>
              </a:rPr>
              <a:t>Q2 2028</a:t>
            </a:r>
            <a:endParaRPr b="0" i="0" sz="1400" u="none" cap="none" strike="noStrike">
              <a:solidFill>
                <a:srgbClr val="000000"/>
              </a:solidFill>
              <a:latin typeface="Arial"/>
              <a:ea typeface="Arial"/>
              <a:cs typeface="Arial"/>
              <a:sym typeface="Arial"/>
            </a:endParaRPr>
          </a:p>
        </p:txBody>
      </p:sp>
      <p:sp>
        <p:nvSpPr>
          <p:cNvPr id="163" name="Google Shape;163;p9"/>
          <p:cNvSpPr txBox="1"/>
          <p:nvPr/>
        </p:nvSpPr>
        <p:spPr>
          <a:xfrm>
            <a:off x="2560320" y="3374136"/>
            <a:ext cx="5852100" cy="2925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en-CA" sz="1300" u="none" cap="none" strike="noStrike">
                <a:solidFill>
                  <a:srgbClr val="2C3E50"/>
                </a:solidFill>
                <a:latin typeface="Calibri"/>
                <a:ea typeface="Calibri"/>
                <a:cs typeface="Calibri"/>
                <a:sym typeface="Calibri"/>
              </a:rPr>
              <a:t>✓ PRODUCTION START (800 tonnes Year 1)</a:t>
            </a:r>
            <a:endParaRPr b="0" i="0" sz="1400" u="none" cap="none" strike="noStrike">
              <a:solidFill>
                <a:srgbClr val="2C3E50"/>
              </a:solidFill>
              <a:latin typeface="Arial"/>
              <a:ea typeface="Arial"/>
              <a:cs typeface="Arial"/>
              <a:sym typeface="Arial"/>
            </a:endParaRPr>
          </a:p>
        </p:txBody>
      </p:sp>
      <p:sp>
        <p:nvSpPr>
          <p:cNvPr id="164" name="Google Shape;164;p9"/>
          <p:cNvSpPr/>
          <p:nvPr/>
        </p:nvSpPr>
        <p:spPr>
          <a:xfrm>
            <a:off x="731520" y="3799332"/>
            <a:ext cx="1645920" cy="342900"/>
          </a:xfrm>
          <a:prstGeom prst="roundRect">
            <a:avLst>
              <a:gd fmla="val 16667" name="adj"/>
            </a:avLst>
          </a:prstGeom>
          <a:solidFill>
            <a:srgbClr val="C0C0C0"/>
          </a:solidFill>
          <a:ln>
            <a:noFill/>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CA" sz="1300" u="none" cap="none" strike="noStrike">
                <a:solidFill>
                  <a:srgbClr val="2C3E50"/>
                </a:solidFill>
                <a:latin typeface="Calibri"/>
                <a:ea typeface="Calibri"/>
                <a:cs typeface="Calibri"/>
                <a:sym typeface="Calibri"/>
              </a:rPr>
              <a:t>2029-2031</a:t>
            </a:r>
            <a:endParaRPr b="0" i="0" sz="1400" u="none" cap="none" strike="noStrike">
              <a:solidFill>
                <a:srgbClr val="000000"/>
              </a:solidFill>
              <a:latin typeface="Arial"/>
              <a:ea typeface="Arial"/>
              <a:cs typeface="Arial"/>
              <a:sym typeface="Arial"/>
            </a:endParaRPr>
          </a:p>
        </p:txBody>
      </p:sp>
      <p:sp>
        <p:nvSpPr>
          <p:cNvPr id="165" name="Google Shape;165;p9"/>
          <p:cNvSpPr txBox="1"/>
          <p:nvPr/>
        </p:nvSpPr>
        <p:spPr>
          <a:xfrm>
            <a:off x="2560320" y="3799332"/>
            <a:ext cx="5852100" cy="2925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0" i="0" lang="en-CA" sz="1300" u="none" cap="none" strike="noStrike">
                <a:solidFill>
                  <a:srgbClr val="2C3E50"/>
                </a:solidFill>
                <a:latin typeface="Calibri"/>
                <a:ea typeface="Calibri"/>
                <a:cs typeface="Calibri"/>
                <a:sym typeface="Calibri"/>
              </a:rPr>
              <a:t>Scale to 6,000 tonnes + Export operations</a:t>
            </a:r>
            <a:endParaRPr b="0" i="0" sz="1400" u="none" cap="none" strike="noStrike">
              <a:solidFill>
                <a:srgbClr val="2C3E50"/>
              </a:solidFill>
              <a:latin typeface="Arial"/>
              <a:ea typeface="Arial"/>
              <a:cs typeface="Arial"/>
              <a:sym typeface="Arial"/>
            </a:endParaRPr>
          </a:p>
        </p:txBody>
      </p:sp>
      <p:sp>
        <p:nvSpPr>
          <p:cNvPr id="166" name="Google Shape;166;p9"/>
          <p:cNvSpPr txBox="1"/>
          <p:nvPr/>
        </p:nvSpPr>
        <p:spPr>
          <a:xfrm>
            <a:off x="914400" y="4320540"/>
            <a:ext cx="7315200" cy="75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CA" sz="1400" u="none" cap="none" strike="noStrike">
                <a:solidFill>
                  <a:srgbClr val="B87333"/>
                </a:solidFill>
                <a:latin typeface="Calibri"/>
                <a:ea typeface="Calibri"/>
                <a:cs typeface="Calibri"/>
                <a:sym typeface="Calibri"/>
              </a:rPr>
              <a:t>CRITICAL PATH: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300"/>
              <a:buFont typeface="Arial"/>
              <a:buNone/>
            </a:pPr>
            <a:r>
              <a:rPr b="0" i="0" lang="en-CA" sz="1300" u="none" cap="none" strike="noStrike">
                <a:solidFill>
                  <a:srgbClr val="2C3E50"/>
                </a:solidFill>
                <a:latin typeface="Calibri"/>
                <a:ea typeface="Calibri"/>
                <a:cs typeface="Calibri"/>
                <a:sym typeface="Calibri"/>
              </a:rPr>
              <a:t>Land commitment by January 2026 → Q2 2028 production achievable</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300"/>
              <a:buFont typeface="Arial"/>
              <a:buNone/>
            </a:pPr>
            <a:r>
              <a:rPr b="1" i="0" lang="en-CA" sz="1300" u="none" cap="none" strike="noStrike">
                <a:solidFill>
                  <a:srgbClr val="B87333"/>
                </a:solidFill>
                <a:latin typeface="Calibri"/>
                <a:ea typeface="Calibri"/>
                <a:cs typeface="Calibri"/>
                <a:sym typeface="Calibri"/>
              </a:rPr>
              <a:t>Delays in land commitment → Timeline pushes back proportionally</a:t>
            </a:r>
            <a:endParaRPr b="0" i="0" sz="1400" u="none" cap="none" strike="noStrike">
              <a:solidFill>
                <a:srgbClr val="000000"/>
              </a:solidFill>
              <a:latin typeface="Arial"/>
              <a:ea typeface="Arial"/>
              <a:cs typeface="Arial"/>
              <a:sym typeface="Arial"/>
            </a:endParaRPr>
          </a:p>
        </p:txBody>
      </p:sp>
      <p:pic>
        <p:nvPicPr>
          <p:cNvPr descr="fluxgen-logo-monogram.png" id="167" name="Google Shape;167;p9"/>
          <p:cNvPicPr preferRelativeResize="0"/>
          <p:nvPr/>
        </p:nvPicPr>
        <p:blipFill rotWithShape="1">
          <a:blip r:embed="rId3">
            <a:alphaModFix/>
          </a:blip>
          <a:srcRect b="0" l="0" r="0" t="0"/>
          <a:stretch/>
        </p:blipFill>
        <p:spPr>
          <a:xfrm>
            <a:off x="8412480" y="4800600"/>
            <a:ext cx="274320" cy="27432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1" name="Shape 171"/>
        <p:cNvGrpSpPr/>
        <p:nvPr/>
      </p:nvGrpSpPr>
      <p:grpSpPr>
        <a:xfrm>
          <a:off x="0" y="0"/>
          <a:ext cx="0" cy="0"/>
          <a:chOff x="0" y="0"/>
          <a:chExt cx="0" cy="0"/>
        </a:xfrm>
      </p:grpSpPr>
      <p:sp>
        <p:nvSpPr>
          <p:cNvPr id="172" name="Google Shape;172;p10"/>
          <p:cNvSpPr txBox="1"/>
          <p:nvPr/>
        </p:nvSpPr>
        <p:spPr>
          <a:xfrm>
            <a:off x="457200" y="53460"/>
            <a:ext cx="8229600" cy="769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Arial"/>
              <a:buNone/>
            </a:pPr>
            <a:r>
              <a:rPr b="1" i="0" lang="en-CA" sz="2200" u="none" cap="none" strike="noStrike">
                <a:solidFill>
                  <a:srgbClr val="B87333"/>
                </a:solidFill>
                <a:latin typeface="Calibri"/>
                <a:ea typeface="Calibri"/>
                <a:cs typeface="Calibri"/>
                <a:sym typeface="Calibri"/>
              </a:rPr>
              <a:t>LEADERSHIP TEAM: PROVEN OPERATORS, NOT FIRST-TIME FOUNDERS</a:t>
            </a:r>
            <a:endParaRPr b="0" i="0" sz="1400" u="none" cap="none" strike="noStrike">
              <a:solidFill>
                <a:srgbClr val="000000"/>
              </a:solidFill>
              <a:latin typeface="Arial"/>
              <a:ea typeface="Arial"/>
              <a:cs typeface="Arial"/>
              <a:sym typeface="Arial"/>
            </a:endParaRPr>
          </a:p>
        </p:txBody>
      </p:sp>
      <p:sp>
        <p:nvSpPr>
          <p:cNvPr id="173" name="Google Shape;173;p10"/>
          <p:cNvSpPr/>
          <p:nvPr/>
        </p:nvSpPr>
        <p:spPr>
          <a:xfrm>
            <a:off x="731520" y="822960"/>
            <a:ext cx="3840480" cy="1645920"/>
          </a:xfrm>
          <a:prstGeom prst="roundRect">
            <a:avLst>
              <a:gd fmla="val 16667" name="adj"/>
            </a:avLst>
          </a:prstGeom>
          <a:noFill/>
          <a:ln cap="flat" cmpd="sng" w="25400">
            <a:solidFill>
              <a:srgbClr val="B87333"/>
            </a:solidFill>
            <a:prstDash val="solid"/>
            <a:round/>
            <a:headEnd len="sm" w="sm" type="none"/>
            <a:tailEnd len="sm" w="sm" type="none"/>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00"/>
              <a:buFont typeface="Arial"/>
              <a:buNone/>
            </a:pPr>
            <a:r>
              <a:rPr b="1" i="0" lang="en-CA" sz="1500" u="none" cap="none" strike="noStrike">
                <a:solidFill>
                  <a:srgbClr val="B87333"/>
                </a:solidFill>
                <a:latin typeface="Calibri"/>
                <a:ea typeface="Calibri"/>
                <a:cs typeface="Calibri"/>
                <a:sym typeface="Calibri"/>
              </a:rPr>
              <a:t>Pratik Jhaveri</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200"/>
              </a:spcBef>
              <a:spcAft>
                <a:spcPts val="0"/>
              </a:spcAft>
              <a:buClr>
                <a:srgbClr val="000000"/>
              </a:buClr>
              <a:buSzPts val="1200"/>
              <a:buFont typeface="Arial"/>
              <a:buNone/>
            </a:pPr>
            <a:r>
              <a:rPr b="0" i="0" lang="en-CA" sz="1200" u="none" cap="none" strike="noStrike">
                <a:solidFill>
                  <a:srgbClr val="2C3E50"/>
                </a:solidFill>
                <a:latin typeface="Calibri"/>
                <a:ea typeface="Calibri"/>
                <a:cs typeface="Calibri"/>
                <a:sym typeface="Calibri"/>
              </a:rPr>
              <a:t>Chief Technical Officer</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900"/>
              <a:buFont typeface="Arial"/>
              <a:buNone/>
            </a:pPr>
            <a:r>
              <a:rPr b="0" i="0" lang="en-CA" sz="900" u="none" cap="none" strike="noStrike">
                <a:solidFill>
                  <a:srgbClr val="2C3E50"/>
                </a:solidFill>
                <a:latin typeface="Calibri"/>
                <a:ea typeface="Calibri"/>
                <a:cs typeface="Calibri"/>
                <a:sym typeface="Calibri"/>
              </a:rPr>
              <a:t>• Former owner: Jhaveri Weldflux Ltd. (publicly traded, BSE/ASE)</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900"/>
              <a:buFont typeface="Arial"/>
              <a:buNone/>
            </a:pPr>
            <a:r>
              <a:rPr b="0" i="0" lang="en-CA" sz="900" u="none" cap="none" strike="noStrike">
                <a:solidFill>
                  <a:srgbClr val="2C3E50"/>
                </a:solidFill>
                <a:latin typeface="Calibri"/>
                <a:ea typeface="Calibri"/>
                <a:cs typeface="Calibri"/>
                <a:sym typeface="Calibri"/>
              </a:rPr>
              <a:t>• 40+ years SAW flux manufacturing experience</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900"/>
              <a:buFont typeface="Arial"/>
              <a:buNone/>
            </a:pPr>
            <a:r>
              <a:rPr b="0" i="0" lang="en-CA" sz="900" u="none" cap="none" strike="noStrike">
                <a:solidFill>
                  <a:srgbClr val="2C3E50"/>
                </a:solidFill>
                <a:latin typeface="Calibri"/>
                <a:ea typeface="Calibri"/>
                <a:cs typeface="Calibri"/>
                <a:sym typeface="Calibri"/>
              </a:rPr>
              <a:t>• Production-ready formulations (proven IP)</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900"/>
              <a:buFont typeface="Arial"/>
              <a:buNone/>
            </a:pPr>
            <a:r>
              <a:rPr b="0" i="0" lang="en-CA" sz="900" u="none" cap="none" strike="noStrike">
                <a:solidFill>
                  <a:srgbClr val="2C3E50"/>
                </a:solidFill>
                <a:latin typeface="Calibri"/>
                <a:ea typeface="Calibri"/>
                <a:cs typeface="Calibri"/>
                <a:sym typeface="Calibri"/>
              </a:rPr>
              <a:t>• Lead Software Engineer (Aylo)</a:t>
            </a:r>
            <a:endParaRPr b="0" i="0" sz="1400" u="none" cap="none" strike="noStrike">
              <a:solidFill>
                <a:srgbClr val="2C3E50"/>
              </a:solidFill>
              <a:latin typeface="Arial"/>
              <a:ea typeface="Arial"/>
              <a:cs typeface="Arial"/>
              <a:sym typeface="Arial"/>
            </a:endParaRPr>
          </a:p>
        </p:txBody>
      </p:sp>
      <p:sp>
        <p:nvSpPr>
          <p:cNvPr id="174" name="Google Shape;174;p10"/>
          <p:cNvSpPr/>
          <p:nvPr/>
        </p:nvSpPr>
        <p:spPr>
          <a:xfrm>
            <a:off x="4937759" y="822960"/>
            <a:ext cx="3840480" cy="1645920"/>
          </a:xfrm>
          <a:prstGeom prst="roundRect">
            <a:avLst>
              <a:gd fmla="val 16667" name="adj"/>
            </a:avLst>
          </a:prstGeom>
          <a:noFill/>
          <a:ln cap="flat" cmpd="sng" w="25400">
            <a:solidFill>
              <a:srgbClr val="B87333"/>
            </a:solidFill>
            <a:prstDash val="solid"/>
            <a:round/>
            <a:headEnd len="sm" w="sm" type="none"/>
            <a:tailEnd len="sm" w="sm" type="none"/>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00"/>
              <a:buFont typeface="Arial"/>
              <a:buNone/>
            </a:pPr>
            <a:r>
              <a:rPr b="1" i="0" lang="en-CA" sz="1500" u="none" cap="none" strike="noStrike">
                <a:solidFill>
                  <a:srgbClr val="B87333"/>
                </a:solidFill>
                <a:latin typeface="Calibri"/>
                <a:ea typeface="Calibri"/>
                <a:cs typeface="Calibri"/>
                <a:sym typeface="Calibri"/>
              </a:rPr>
              <a:t>Arpan Patel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200"/>
              </a:spcBef>
              <a:spcAft>
                <a:spcPts val="0"/>
              </a:spcAft>
              <a:buClr>
                <a:srgbClr val="000000"/>
              </a:buClr>
              <a:buSzPts val="1200"/>
              <a:buFont typeface="Arial"/>
              <a:buNone/>
            </a:pPr>
            <a:r>
              <a:rPr b="0" i="0" lang="en-CA" sz="1200" u="none" cap="none" strike="noStrike">
                <a:solidFill>
                  <a:srgbClr val="2C3E50"/>
                </a:solidFill>
                <a:latin typeface="Calibri"/>
                <a:ea typeface="Calibri"/>
                <a:cs typeface="Calibri"/>
                <a:sym typeface="Calibri"/>
              </a:rPr>
              <a:t>Chief Operating Officer</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900"/>
              <a:buFont typeface="Arial"/>
              <a:buNone/>
            </a:pPr>
            <a:r>
              <a:rPr b="0" i="0" lang="en-CA" sz="900" u="none" cap="none" strike="noStrike">
                <a:solidFill>
                  <a:srgbClr val="2C3E50"/>
                </a:solidFill>
                <a:latin typeface="Calibri"/>
                <a:ea typeface="Calibri"/>
                <a:cs typeface="Calibri"/>
                <a:sym typeface="Calibri"/>
              </a:rPr>
              <a:t>• Logistics &amp; operations expert</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900"/>
              <a:buFont typeface="Arial"/>
              <a:buNone/>
            </a:pPr>
            <a:r>
              <a:rPr b="0" i="0" lang="en-CA" sz="900" u="none" cap="none" strike="noStrike">
                <a:solidFill>
                  <a:srgbClr val="2C3E50"/>
                </a:solidFill>
                <a:latin typeface="Calibri"/>
                <a:ea typeface="Calibri"/>
                <a:cs typeface="Calibri"/>
                <a:sym typeface="Calibri"/>
              </a:rPr>
              <a:t>• Loblaws Canada supply chain management</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900"/>
              <a:buFont typeface="Arial"/>
              <a:buNone/>
            </a:pPr>
            <a:r>
              <a:rPr b="0" i="0" lang="en-CA" sz="900" u="none" cap="none" strike="noStrike">
                <a:solidFill>
                  <a:srgbClr val="2C3E50"/>
                </a:solidFill>
                <a:latin typeface="Calibri"/>
                <a:ea typeface="Calibri"/>
                <a:cs typeface="Calibri"/>
                <a:sym typeface="Calibri"/>
              </a:rPr>
              <a:t>• Process optimization &amp; efficiency</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900"/>
              <a:buFont typeface="Arial"/>
              <a:buNone/>
            </a:pPr>
            <a:r>
              <a:rPr b="0" i="0" lang="en-CA" sz="900" u="none" cap="none" strike="noStrike">
                <a:solidFill>
                  <a:srgbClr val="2C3E50"/>
                </a:solidFill>
                <a:latin typeface="Calibri"/>
                <a:ea typeface="Calibri"/>
                <a:cs typeface="Calibri"/>
                <a:sym typeface="Calibri"/>
              </a:rPr>
              <a:t>• Vendor management &amp; procurement</a:t>
            </a:r>
            <a:endParaRPr b="0" i="0" sz="1400" u="none" cap="none" strike="noStrike">
              <a:solidFill>
                <a:srgbClr val="2C3E50"/>
              </a:solidFill>
              <a:latin typeface="Arial"/>
              <a:ea typeface="Arial"/>
              <a:cs typeface="Arial"/>
              <a:sym typeface="Arial"/>
            </a:endParaRPr>
          </a:p>
        </p:txBody>
      </p:sp>
      <p:sp>
        <p:nvSpPr>
          <p:cNvPr id="175" name="Google Shape;175;p10"/>
          <p:cNvSpPr/>
          <p:nvPr/>
        </p:nvSpPr>
        <p:spPr>
          <a:xfrm>
            <a:off x="731520" y="2674620"/>
            <a:ext cx="3840480" cy="1645920"/>
          </a:xfrm>
          <a:prstGeom prst="roundRect">
            <a:avLst>
              <a:gd fmla="val 16667" name="adj"/>
            </a:avLst>
          </a:prstGeom>
          <a:noFill/>
          <a:ln cap="flat" cmpd="sng" w="25400">
            <a:solidFill>
              <a:srgbClr val="B87333"/>
            </a:solidFill>
            <a:prstDash val="solid"/>
            <a:round/>
            <a:headEnd len="sm" w="sm" type="none"/>
            <a:tailEnd len="sm" w="sm" type="none"/>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00"/>
              <a:buFont typeface="Arial"/>
              <a:buNone/>
            </a:pPr>
            <a:r>
              <a:rPr b="1" i="0" lang="en-CA" sz="1500" u="none" cap="none" strike="noStrike">
                <a:solidFill>
                  <a:srgbClr val="B87333"/>
                </a:solidFill>
                <a:latin typeface="Calibri"/>
                <a:ea typeface="Calibri"/>
                <a:cs typeface="Calibri"/>
                <a:sym typeface="Calibri"/>
              </a:rPr>
              <a:t>Abhishek Patel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200"/>
              </a:spcBef>
              <a:spcAft>
                <a:spcPts val="0"/>
              </a:spcAft>
              <a:buClr>
                <a:srgbClr val="000000"/>
              </a:buClr>
              <a:buSzPts val="1200"/>
              <a:buFont typeface="Arial"/>
              <a:buNone/>
            </a:pPr>
            <a:r>
              <a:rPr b="0" i="0" lang="en-CA" sz="1200" u="none" cap="none" strike="noStrike">
                <a:solidFill>
                  <a:srgbClr val="2C3E50"/>
                </a:solidFill>
                <a:latin typeface="Calibri"/>
                <a:ea typeface="Calibri"/>
                <a:cs typeface="Calibri"/>
                <a:sym typeface="Calibri"/>
              </a:rPr>
              <a:t>Chief Commercial Officer</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900"/>
              <a:buFont typeface="Arial"/>
              <a:buNone/>
            </a:pPr>
            <a:r>
              <a:rPr b="0" i="0" lang="en-CA" sz="900" u="none" cap="none" strike="noStrike">
                <a:solidFill>
                  <a:srgbClr val="2C3E50"/>
                </a:solidFill>
                <a:latin typeface="Calibri"/>
                <a:ea typeface="Calibri"/>
                <a:cs typeface="Calibri"/>
                <a:sym typeface="Calibri"/>
              </a:rPr>
              <a:t>• Sales &amp; marketing specialist</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900"/>
              <a:buFont typeface="Arial"/>
              <a:buNone/>
            </a:pPr>
            <a:r>
              <a:rPr b="0" i="0" lang="en-CA" sz="900" u="none" cap="none" strike="noStrike">
                <a:solidFill>
                  <a:srgbClr val="2C3E50"/>
                </a:solidFill>
                <a:latin typeface="Calibri"/>
                <a:ea typeface="Calibri"/>
                <a:cs typeface="Calibri"/>
                <a:sym typeface="Calibri"/>
              </a:rPr>
              <a:t>• Customer acquisition &amp; retention</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900"/>
              <a:buFont typeface="Arial"/>
              <a:buNone/>
            </a:pPr>
            <a:r>
              <a:rPr b="0" i="0" lang="en-CA" sz="900" u="none" cap="none" strike="noStrike">
                <a:solidFill>
                  <a:srgbClr val="2C3E50"/>
                </a:solidFill>
                <a:latin typeface="Calibri"/>
                <a:ea typeface="Calibri"/>
                <a:cs typeface="Calibri"/>
                <a:sym typeface="Calibri"/>
              </a:rPr>
              <a:t>• Market development strategy</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900"/>
              <a:buFont typeface="Arial"/>
              <a:buNone/>
            </a:pPr>
            <a:r>
              <a:rPr b="0" i="0" lang="en-CA" sz="900" u="none" cap="none" strike="noStrike">
                <a:solidFill>
                  <a:srgbClr val="2C3E50"/>
                </a:solidFill>
                <a:latin typeface="Calibri"/>
                <a:ea typeface="Calibri"/>
                <a:cs typeface="Calibri"/>
                <a:sym typeface="Calibri"/>
              </a:rPr>
              <a:t>• B2B sales cycles (industrial)</a:t>
            </a:r>
            <a:endParaRPr b="0" i="0" sz="1400" u="none" cap="none" strike="noStrike">
              <a:solidFill>
                <a:srgbClr val="2C3E50"/>
              </a:solidFill>
              <a:latin typeface="Arial"/>
              <a:ea typeface="Arial"/>
              <a:cs typeface="Arial"/>
              <a:sym typeface="Arial"/>
            </a:endParaRPr>
          </a:p>
        </p:txBody>
      </p:sp>
      <p:sp>
        <p:nvSpPr>
          <p:cNvPr id="176" name="Google Shape;176;p10"/>
          <p:cNvSpPr/>
          <p:nvPr/>
        </p:nvSpPr>
        <p:spPr>
          <a:xfrm>
            <a:off x="4937759" y="2674620"/>
            <a:ext cx="3840480" cy="1645920"/>
          </a:xfrm>
          <a:prstGeom prst="roundRect">
            <a:avLst>
              <a:gd fmla="val 16667" name="adj"/>
            </a:avLst>
          </a:prstGeom>
          <a:noFill/>
          <a:ln cap="flat" cmpd="sng" w="25400">
            <a:solidFill>
              <a:srgbClr val="B87333"/>
            </a:solidFill>
            <a:prstDash val="solid"/>
            <a:round/>
            <a:headEnd len="sm" w="sm" type="none"/>
            <a:tailEnd len="sm" w="sm" type="none"/>
          </a:ln>
          <a:effectLst>
            <a:outerShdw blurRad="40000" rotWithShape="0" dir="5400000" dist="23000">
              <a:srgbClr val="000000">
                <a:alpha val="3411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00"/>
              <a:buFont typeface="Arial"/>
              <a:buNone/>
            </a:pPr>
            <a:r>
              <a:rPr b="1" i="0" lang="en-CA" sz="1500" u="none" cap="none" strike="noStrike">
                <a:solidFill>
                  <a:srgbClr val="B87333"/>
                </a:solidFill>
                <a:latin typeface="Calibri"/>
                <a:ea typeface="Calibri"/>
                <a:cs typeface="Calibri"/>
                <a:sym typeface="Calibri"/>
              </a:rPr>
              <a:t>Bhargav Patel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200"/>
              </a:spcBef>
              <a:spcAft>
                <a:spcPts val="0"/>
              </a:spcAft>
              <a:buClr>
                <a:srgbClr val="000000"/>
              </a:buClr>
              <a:buSzPts val="1200"/>
              <a:buFont typeface="Arial"/>
              <a:buNone/>
            </a:pPr>
            <a:r>
              <a:rPr b="0" i="0" lang="en-CA" sz="1200" u="none" cap="none" strike="noStrike">
                <a:solidFill>
                  <a:srgbClr val="2C3E50"/>
                </a:solidFill>
                <a:latin typeface="Calibri"/>
                <a:ea typeface="Calibri"/>
                <a:cs typeface="Calibri"/>
                <a:sym typeface="Calibri"/>
              </a:rPr>
              <a:t>Chief Compliance Officer</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900"/>
              <a:buFont typeface="Arial"/>
              <a:buNone/>
            </a:pPr>
            <a:r>
              <a:rPr b="0" i="0" lang="en-CA" sz="900" u="none" cap="none" strike="noStrike">
                <a:solidFill>
                  <a:srgbClr val="2C3E50"/>
                </a:solidFill>
                <a:latin typeface="Calibri"/>
                <a:ea typeface="Calibri"/>
                <a:cs typeface="Calibri"/>
                <a:sym typeface="Calibri"/>
              </a:rPr>
              <a:t>• IT systems &amp; process compliance</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900"/>
              <a:buFont typeface="Arial"/>
              <a:buNone/>
            </a:pPr>
            <a:r>
              <a:rPr b="0" i="0" lang="en-CA" sz="900" u="none" cap="none" strike="noStrike">
                <a:solidFill>
                  <a:srgbClr val="2C3E50"/>
                </a:solidFill>
                <a:latin typeface="Calibri"/>
                <a:ea typeface="Calibri"/>
                <a:cs typeface="Calibri"/>
                <a:sym typeface="Calibri"/>
              </a:rPr>
              <a:t>• Detail-oriented regulatory management</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900"/>
              <a:buFont typeface="Arial"/>
              <a:buNone/>
            </a:pPr>
            <a:r>
              <a:rPr b="0" i="0" lang="en-CA" sz="900" u="none" cap="none" strike="noStrike">
                <a:solidFill>
                  <a:srgbClr val="2C3E50"/>
                </a:solidFill>
                <a:latin typeface="Calibri"/>
                <a:ea typeface="Calibri"/>
                <a:cs typeface="Calibri"/>
                <a:sym typeface="Calibri"/>
              </a:rPr>
              <a:t>• Quality management systems (QMS)</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900"/>
              <a:buFont typeface="Arial"/>
              <a:buNone/>
            </a:pPr>
            <a:r>
              <a:rPr b="0" i="0" lang="en-CA" sz="900" u="none" cap="none" strike="noStrike">
                <a:solidFill>
                  <a:srgbClr val="2C3E50"/>
                </a:solidFill>
                <a:latin typeface="Calibri"/>
                <a:ea typeface="Calibri"/>
                <a:cs typeface="Calibri"/>
                <a:sym typeface="Calibri"/>
              </a:rPr>
              <a:t>• AWS/CSA certification preparation</a:t>
            </a:r>
            <a:endParaRPr b="0" i="0" sz="1400" u="none" cap="none" strike="noStrike">
              <a:solidFill>
                <a:srgbClr val="2C3E50"/>
              </a:solidFill>
              <a:latin typeface="Arial"/>
              <a:ea typeface="Arial"/>
              <a:cs typeface="Arial"/>
              <a:sym typeface="Arial"/>
            </a:endParaRPr>
          </a:p>
        </p:txBody>
      </p:sp>
      <p:sp>
        <p:nvSpPr>
          <p:cNvPr id="177" name="Google Shape;177;p10"/>
          <p:cNvSpPr txBox="1"/>
          <p:nvPr/>
        </p:nvSpPr>
        <p:spPr>
          <a:xfrm>
            <a:off x="914400" y="4594860"/>
            <a:ext cx="7315200" cy="342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CA" sz="1200" u="none" cap="none" strike="noStrike">
                <a:solidFill>
                  <a:srgbClr val="B87333"/>
                </a:solidFill>
                <a:latin typeface="Calibri"/>
                <a:ea typeface="Calibri"/>
                <a:cs typeface="Calibri"/>
                <a:sym typeface="Calibri"/>
              </a:rPr>
              <a:t>PARTNERSHIP: Equal 25% equity split | Aligned incentives | Full-time commitment by 2026</a:t>
            </a:r>
            <a:endParaRPr b="0" i="0" sz="1400" u="none" cap="none" strike="noStrike">
              <a:solidFill>
                <a:srgbClr val="000000"/>
              </a:solidFill>
              <a:latin typeface="Arial"/>
              <a:ea typeface="Arial"/>
              <a:cs typeface="Arial"/>
              <a:sym typeface="Arial"/>
            </a:endParaRPr>
          </a:p>
        </p:txBody>
      </p:sp>
      <p:pic>
        <p:nvPicPr>
          <p:cNvPr descr="fluxgen-logo-monogram.png" id="178" name="Google Shape;178;p10"/>
          <p:cNvPicPr preferRelativeResize="0"/>
          <p:nvPr/>
        </p:nvPicPr>
        <p:blipFill rotWithShape="1">
          <a:blip r:embed="rId3">
            <a:alphaModFix/>
          </a:blip>
          <a:srcRect b="0" l="0" r="0" t="0"/>
          <a:stretch/>
        </p:blipFill>
        <p:spPr>
          <a:xfrm>
            <a:off x="8412480" y="4800600"/>
            <a:ext cx="274320" cy="27432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2" name="Shape 182"/>
        <p:cNvGrpSpPr/>
        <p:nvPr/>
      </p:nvGrpSpPr>
      <p:grpSpPr>
        <a:xfrm>
          <a:off x="0" y="0"/>
          <a:ext cx="0" cy="0"/>
          <a:chOff x="0" y="0"/>
          <a:chExt cx="0" cy="0"/>
        </a:xfrm>
      </p:grpSpPr>
      <p:sp>
        <p:nvSpPr>
          <p:cNvPr id="183" name="Google Shape;183;p11"/>
          <p:cNvSpPr txBox="1"/>
          <p:nvPr/>
        </p:nvSpPr>
        <p:spPr>
          <a:xfrm>
            <a:off x="457175" y="136090"/>
            <a:ext cx="82296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CA" sz="2800" u="none" cap="none" strike="noStrike">
                <a:solidFill>
                  <a:srgbClr val="B87333"/>
                </a:solidFill>
                <a:latin typeface="Calibri"/>
                <a:ea typeface="Calibri"/>
                <a:cs typeface="Calibri"/>
                <a:sym typeface="Calibri"/>
              </a:rPr>
              <a:t>THE PATH FORWARD — IF WE PARTNER</a:t>
            </a:r>
            <a:endParaRPr b="0" i="0" sz="1400" u="none" cap="none" strike="noStrike">
              <a:solidFill>
                <a:srgbClr val="000000"/>
              </a:solidFill>
              <a:latin typeface="Arial"/>
              <a:ea typeface="Arial"/>
              <a:cs typeface="Arial"/>
              <a:sym typeface="Arial"/>
            </a:endParaRPr>
          </a:p>
        </p:txBody>
      </p:sp>
      <p:sp>
        <p:nvSpPr>
          <p:cNvPr id="184" name="Google Shape;184;p11"/>
          <p:cNvSpPr txBox="1"/>
          <p:nvPr/>
        </p:nvSpPr>
        <p:spPr>
          <a:xfrm>
            <a:off x="731525" y="754373"/>
            <a:ext cx="7680900" cy="138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CA" sz="1600" u="none" cap="none" strike="noStrike">
                <a:solidFill>
                  <a:srgbClr val="B87333"/>
                </a:solidFill>
                <a:latin typeface="Calibri"/>
                <a:ea typeface="Calibri"/>
                <a:cs typeface="Calibri"/>
                <a:sym typeface="Calibri"/>
              </a:rPr>
              <a:t>IMMEDIATE ACTIONS (December 2025 - January 2026)</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200"/>
              <a:buFont typeface="Arial"/>
              <a:buNone/>
            </a:pPr>
            <a:r>
              <a:rPr b="0" i="0" lang="en-CA" sz="1200" u="none" cap="none" strike="noStrike">
                <a:solidFill>
                  <a:srgbClr val="2C3E50"/>
                </a:solidFill>
                <a:latin typeface="Calibri"/>
                <a:ea typeface="Calibri"/>
                <a:cs typeface="Calibri"/>
                <a:sym typeface="Calibri"/>
              </a:rPr>
              <a:t>1. Draft MOU: Land structure, site selection, timeline, responsibilities</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200"/>
              <a:buFont typeface="Arial"/>
              <a:buNone/>
            </a:pPr>
            <a:r>
              <a:rPr b="0" i="0" lang="en-CA" sz="1200" u="none" cap="none" strike="noStrike">
                <a:solidFill>
                  <a:srgbClr val="2C3E50"/>
                </a:solidFill>
                <a:latin typeface="Calibri"/>
                <a:ea typeface="Calibri"/>
                <a:cs typeface="Calibri"/>
                <a:sym typeface="Calibri"/>
              </a:rPr>
              <a:t>2. Site Identification: City identifies 2-3 industrial parcels (10-15 acres)</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200"/>
              <a:buFont typeface="Arial"/>
              <a:buNone/>
            </a:pPr>
            <a:r>
              <a:rPr b="0" i="0" lang="en-CA" sz="1200" u="none" cap="none" strike="noStrike">
                <a:solidFill>
                  <a:srgbClr val="2C3E50"/>
                </a:solidFill>
                <a:latin typeface="Calibri"/>
                <a:ea typeface="Calibri"/>
                <a:cs typeface="Calibri"/>
                <a:sym typeface="Calibri"/>
              </a:rPr>
              <a:t>3. Municipal Support Letter: For PrairiesCan &amp; Alberta Innovates (deadline mid-January)</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200"/>
              <a:buFont typeface="Arial"/>
              <a:buNone/>
            </a:pPr>
            <a:r>
              <a:rPr b="0" i="0" lang="en-CA" sz="1200" u="none" cap="none" strike="noStrike">
                <a:solidFill>
                  <a:srgbClr val="2C3E50"/>
                </a:solidFill>
                <a:latin typeface="Calibri"/>
                <a:ea typeface="Calibri"/>
                <a:cs typeface="Calibri"/>
                <a:sym typeface="Calibri"/>
              </a:rPr>
              <a:t>4. Legal Framework: Land transfer/lease agreements, council approval, media strategy</a:t>
            </a:r>
            <a:endParaRPr b="0" i="0" sz="1400" u="none" cap="none" strike="noStrike">
              <a:solidFill>
                <a:srgbClr val="2C3E50"/>
              </a:solidFill>
              <a:latin typeface="Arial"/>
              <a:ea typeface="Arial"/>
              <a:cs typeface="Arial"/>
              <a:sym typeface="Arial"/>
            </a:endParaRPr>
          </a:p>
        </p:txBody>
      </p:sp>
      <p:sp>
        <p:nvSpPr>
          <p:cNvPr id="185" name="Google Shape;185;p11"/>
          <p:cNvSpPr txBox="1"/>
          <p:nvPr/>
        </p:nvSpPr>
        <p:spPr>
          <a:xfrm>
            <a:off x="731525" y="2571750"/>
            <a:ext cx="7680900" cy="1123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CA" sz="1600" u="none" cap="none" strike="noStrike">
                <a:solidFill>
                  <a:srgbClr val="B87333"/>
                </a:solidFill>
                <a:latin typeface="Calibri"/>
                <a:ea typeface="Calibri"/>
                <a:cs typeface="Calibri"/>
                <a:sym typeface="Calibri"/>
              </a:rPr>
              <a:t>SUCCESS METRICS — WHAT GOOD LOOKS LIKE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200"/>
              <a:buFont typeface="Arial"/>
              <a:buNone/>
            </a:pPr>
            <a:r>
              <a:rPr b="0" i="0" lang="en-CA" sz="1200" u="none" cap="none" strike="noStrike">
                <a:solidFill>
                  <a:srgbClr val="2C3E50"/>
                </a:solidFill>
                <a:latin typeface="Calibri"/>
                <a:ea typeface="Calibri"/>
                <a:cs typeface="Calibri"/>
                <a:sym typeface="Calibri"/>
              </a:rPr>
              <a:t>NEAR-TERM (Q1-Q2 2026): MOU signed | Land committed | $1M+ federal grants submitted</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200"/>
              <a:buFont typeface="Arial"/>
              <a:buNone/>
            </a:pPr>
            <a:r>
              <a:rPr b="0" i="0" lang="en-CA" sz="1200" u="none" cap="none" strike="noStrike">
                <a:solidFill>
                  <a:srgbClr val="2C3E50"/>
                </a:solidFill>
                <a:latin typeface="Calibri"/>
                <a:ea typeface="Calibri"/>
                <a:cs typeface="Calibri"/>
                <a:sym typeface="Calibri"/>
              </a:rPr>
              <a:t>MID-TERM (2026-2028): Federal funding secured | Facility constructed | Production launch Q2 2027</a:t>
            </a:r>
            <a:endParaRPr b="0" i="0" sz="1400" u="none" cap="none" strike="noStrike">
              <a:solidFill>
                <a:srgbClr val="2C3E5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200"/>
              <a:buFont typeface="Arial"/>
              <a:buNone/>
            </a:pPr>
            <a:r>
              <a:rPr b="0" i="0" lang="en-CA" sz="1200" u="none" cap="none" strike="noStrike">
                <a:solidFill>
                  <a:srgbClr val="2C3E50"/>
                </a:solidFill>
                <a:latin typeface="Calibri"/>
                <a:ea typeface="Calibri"/>
                <a:cs typeface="Calibri"/>
                <a:sym typeface="Calibri"/>
              </a:rPr>
              <a:t>LONG-TERM (2028-2032): Multiple jobs | $30M annual production | IPO or acquisition event</a:t>
            </a:r>
            <a:endParaRPr b="0" i="0" sz="1400" u="none" cap="none" strike="noStrike">
              <a:solidFill>
                <a:srgbClr val="2C3E50"/>
              </a:solidFill>
              <a:latin typeface="Arial"/>
              <a:ea typeface="Arial"/>
              <a:cs typeface="Arial"/>
              <a:sym typeface="Arial"/>
            </a:endParaRPr>
          </a:p>
        </p:txBody>
      </p:sp>
      <p:pic>
        <p:nvPicPr>
          <p:cNvPr descr="fluxgen-logo-monogram.png" id="186" name="Google Shape;186;p11"/>
          <p:cNvPicPr preferRelativeResize="0"/>
          <p:nvPr/>
        </p:nvPicPr>
        <p:blipFill rotWithShape="1">
          <a:blip r:embed="rId3">
            <a:alphaModFix/>
          </a:blip>
          <a:srcRect b="0" l="0" r="0" t="0"/>
          <a:stretch/>
        </p:blipFill>
        <p:spPr>
          <a:xfrm>
            <a:off x="8412480" y="4800600"/>
            <a:ext cx="274320" cy="27432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0" name="Shape 190"/>
        <p:cNvGrpSpPr/>
        <p:nvPr/>
      </p:nvGrpSpPr>
      <p:grpSpPr>
        <a:xfrm>
          <a:off x="0" y="0"/>
          <a:ext cx="0" cy="0"/>
          <a:chOff x="0" y="0"/>
          <a:chExt cx="0" cy="0"/>
        </a:xfrm>
      </p:grpSpPr>
      <p:sp>
        <p:nvSpPr>
          <p:cNvPr id="191" name="Google Shape;191;p12"/>
          <p:cNvSpPr txBox="1"/>
          <p:nvPr/>
        </p:nvSpPr>
        <p:spPr>
          <a:xfrm>
            <a:off x="914400" y="1920240"/>
            <a:ext cx="7315200" cy="102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CA" sz="2800" u="none" cap="none" strike="noStrike">
                <a:solidFill>
                  <a:srgbClr val="B87333"/>
                </a:solidFill>
                <a:latin typeface="Calibri"/>
                <a:ea typeface="Calibri"/>
                <a:cs typeface="Calibri"/>
                <a:sym typeface="Calibri"/>
              </a:rPr>
              <a:t>LET'S BUILD CANADA'S FIRST SAW FLUX MANUFACTURER — TOGETHER.</a:t>
            </a:r>
            <a:endParaRPr b="0" i="0" sz="1400" u="none" cap="none" strike="noStrike">
              <a:solidFill>
                <a:srgbClr val="000000"/>
              </a:solidFill>
              <a:latin typeface="Arial"/>
              <a:ea typeface="Arial"/>
              <a:cs typeface="Arial"/>
              <a:sym typeface="Arial"/>
            </a:endParaRPr>
          </a:p>
        </p:txBody>
      </p:sp>
      <p:sp>
        <p:nvSpPr>
          <p:cNvPr id="192" name="Google Shape;192;p12"/>
          <p:cNvSpPr txBox="1"/>
          <p:nvPr/>
        </p:nvSpPr>
        <p:spPr>
          <a:xfrm>
            <a:off x="914400" y="3086100"/>
            <a:ext cx="7315200" cy="918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CA" sz="1600" u="none" cap="none" strike="noStrike">
                <a:solidFill>
                  <a:srgbClr val="B87333"/>
                </a:solidFill>
                <a:latin typeface="Calibri"/>
                <a:ea typeface="Calibri"/>
                <a:cs typeface="Calibri"/>
                <a:sym typeface="Calibri"/>
              </a:rPr>
              <a:t>THE PARTNERSHIP VALUE EXCHANGE: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800"/>
              </a:spcBef>
              <a:spcAft>
                <a:spcPts val="0"/>
              </a:spcAft>
              <a:buClr>
                <a:srgbClr val="000000"/>
              </a:buClr>
              <a:buSzPts val="1300"/>
              <a:buFont typeface="Arial"/>
              <a:buNone/>
            </a:pPr>
            <a:r>
              <a:rPr b="0" i="0" lang="en-CA" sz="1300" u="none" cap="none" strike="noStrike">
                <a:solidFill>
                  <a:srgbClr val="2C3E50"/>
                </a:solidFill>
                <a:latin typeface="Calibri"/>
                <a:ea typeface="Calibri"/>
                <a:cs typeface="Calibri"/>
                <a:sym typeface="Calibri"/>
              </a:rPr>
              <a:t>YOU PROVIDE: 10-15 acres industrial land + Letter of support + Utility cooperation</a:t>
            </a:r>
            <a:endParaRPr b="0" i="0" sz="1400" u="none" cap="none" strike="noStrike">
              <a:solidFill>
                <a:srgbClr val="2C3E50"/>
              </a:solidFill>
              <a:latin typeface="Arial"/>
              <a:ea typeface="Arial"/>
              <a:cs typeface="Arial"/>
              <a:sym typeface="Arial"/>
            </a:endParaRPr>
          </a:p>
          <a:p>
            <a:pPr indent="0" lvl="0" marL="0" marR="0" rtl="0" algn="ctr">
              <a:lnSpc>
                <a:spcPct val="100000"/>
              </a:lnSpc>
              <a:spcBef>
                <a:spcPts val="600"/>
              </a:spcBef>
              <a:spcAft>
                <a:spcPts val="0"/>
              </a:spcAft>
              <a:buClr>
                <a:srgbClr val="000000"/>
              </a:buClr>
              <a:buSzPts val="1300"/>
              <a:buFont typeface="Arial"/>
              <a:buNone/>
            </a:pPr>
            <a:r>
              <a:rPr b="1" i="0" lang="en-CA" sz="1300" u="none" cap="none" strike="noStrike">
                <a:solidFill>
                  <a:srgbClr val="B87333"/>
                </a:solidFill>
                <a:latin typeface="Calibri"/>
                <a:ea typeface="Calibri"/>
                <a:cs typeface="Calibri"/>
                <a:sym typeface="Calibri"/>
              </a:rPr>
              <a:t>WE PROVIDE: $9.17M investment + 40 jobs + $312M economic impact (7-year) + National prestige</a:t>
            </a:r>
            <a:endParaRPr b="0" i="0" sz="1400" u="none" cap="none" strike="noStrike">
              <a:solidFill>
                <a:srgbClr val="000000"/>
              </a:solidFill>
              <a:latin typeface="Arial"/>
              <a:ea typeface="Arial"/>
              <a:cs typeface="Arial"/>
              <a:sym typeface="Arial"/>
            </a:endParaRPr>
          </a:p>
        </p:txBody>
      </p:sp>
      <p:sp>
        <p:nvSpPr>
          <p:cNvPr id="193" name="Google Shape;193;p12"/>
          <p:cNvSpPr txBox="1"/>
          <p:nvPr/>
        </p:nvSpPr>
        <p:spPr>
          <a:xfrm>
            <a:off x="914400" y="4283550"/>
            <a:ext cx="73152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CA" sz="1200" u="none" cap="none" strike="noStrike">
                <a:solidFill>
                  <a:srgbClr val="2C3E50"/>
                </a:solidFill>
                <a:latin typeface="Calibri"/>
                <a:ea typeface="Calibri"/>
                <a:cs typeface="Calibri"/>
                <a:sym typeface="Calibri"/>
              </a:rPr>
              <a:t>Pratik Jhaveri | Chief Technical Officer| FluxGen Industries Ltd.</a:t>
            </a:r>
            <a:endParaRPr b="0" i="0" sz="1400" u="none" cap="none" strike="noStrike">
              <a:solidFill>
                <a:srgbClr val="2C3E5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CA" sz="1200" u="none" cap="none" strike="noStrike">
                <a:solidFill>
                  <a:srgbClr val="2C3E50"/>
                </a:solidFill>
                <a:latin typeface="Calibri"/>
                <a:ea typeface="Calibri"/>
                <a:cs typeface="Calibri"/>
                <a:sym typeface="Calibri"/>
              </a:rPr>
              <a:t>pratik.jhaveri@fluxgenindustries.ca | Airdrie, Alberta, Canada</a:t>
            </a:r>
            <a:endParaRPr b="0" i="0" sz="1400" u="none" cap="none" strike="noStrike">
              <a:solidFill>
                <a:srgbClr val="2C3E50"/>
              </a:solidFill>
              <a:latin typeface="Arial"/>
              <a:ea typeface="Arial"/>
              <a:cs typeface="Arial"/>
              <a:sym typeface="Arial"/>
            </a:endParaRPr>
          </a:p>
        </p:txBody>
      </p:sp>
      <p:sp>
        <p:nvSpPr>
          <p:cNvPr id="194" name="Google Shape;194;p12"/>
          <p:cNvSpPr txBox="1"/>
          <p:nvPr/>
        </p:nvSpPr>
        <p:spPr>
          <a:xfrm>
            <a:off x="867950" y="4745251"/>
            <a:ext cx="73152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CA" sz="1600" u="none" cap="none" strike="noStrike">
                <a:solidFill>
                  <a:srgbClr val="B87333"/>
                </a:solidFill>
                <a:latin typeface="Calibri"/>
                <a:ea typeface="Calibri"/>
                <a:cs typeface="Calibri"/>
                <a:sym typeface="Calibri"/>
              </a:rPr>
              <a:t>Can we work together to make this happen?</a:t>
            </a:r>
            <a:endParaRPr b="0" i="0" sz="1400" u="none" cap="none" strike="noStrike">
              <a:solidFill>
                <a:srgbClr val="000000"/>
              </a:solidFill>
              <a:latin typeface="Arial"/>
              <a:ea typeface="Arial"/>
              <a:cs typeface="Arial"/>
              <a:sym typeface="Arial"/>
            </a:endParaRPr>
          </a:p>
        </p:txBody>
      </p:sp>
      <p:pic>
        <p:nvPicPr>
          <p:cNvPr id="195" name="Google Shape;195;p12" title="fluxgen-logo-full-header.png"/>
          <p:cNvPicPr preferRelativeResize="0"/>
          <p:nvPr/>
        </p:nvPicPr>
        <p:blipFill rotWithShape="1">
          <a:blip r:embed="rId3">
            <a:alphaModFix/>
          </a:blip>
          <a:srcRect b="0" l="0" r="0" t="0"/>
          <a:stretch/>
        </p:blipFill>
        <p:spPr>
          <a:xfrm>
            <a:off x="2743200" y="354350"/>
            <a:ext cx="3657600" cy="14287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